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41"/>
  </p:notesMasterIdLst>
  <p:handoutMasterIdLst>
    <p:handoutMasterId r:id="rId42"/>
  </p:handoutMasterIdLst>
  <p:sldIdLst>
    <p:sldId id="256" r:id="rId5"/>
    <p:sldId id="257" r:id="rId6"/>
    <p:sldId id="294" r:id="rId7"/>
    <p:sldId id="302" r:id="rId8"/>
    <p:sldId id="286"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5" r:id="rId22"/>
    <p:sldId id="317" r:id="rId23"/>
    <p:sldId id="318" r:id="rId24"/>
    <p:sldId id="319" r:id="rId25"/>
    <p:sldId id="320" r:id="rId26"/>
    <p:sldId id="321" r:id="rId27"/>
    <p:sldId id="322" r:id="rId28"/>
    <p:sldId id="324" r:id="rId29"/>
    <p:sldId id="325" r:id="rId30"/>
    <p:sldId id="326" r:id="rId31"/>
    <p:sldId id="327" r:id="rId32"/>
    <p:sldId id="328" r:id="rId33"/>
    <p:sldId id="329" r:id="rId34"/>
    <p:sldId id="330" r:id="rId35"/>
    <p:sldId id="331" r:id="rId36"/>
    <p:sldId id="332" r:id="rId37"/>
    <p:sldId id="333" r:id="rId38"/>
    <p:sldId id="334" r:id="rId39"/>
    <p:sldId id="29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varScale="1">
        <p:scale>
          <a:sx n="78" d="100"/>
          <a:sy n="78" d="100"/>
        </p:scale>
        <p:origin x="878" y="67"/>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48"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5/15/2024</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5/15/2024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3319086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165311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740117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25172135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1479469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3595997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2770829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11</a:t>
            </a:fld>
            <a:endParaRPr lang="en-US" dirty="0"/>
          </a:p>
        </p:txBody>
      </p:sp>
    </p:spTree>
    <p:extLst>
      <p:ext uri="{BB962C8B-B14F-4D97-AF65-F5344CB8AC3E}">
        <p14:creationId xmlns:p14="http://schemas.microsoft.com/office/powerpoint/2010/main" val="2161013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12</a:t>
            </a:fld>
            <a:endParaRPr lang="en-US" dirty="0"/>
          </a:p>
        </p:txBody>
      </p:sp>
    </p:spTree>
    <p:extLst>
      <p:ext uri="{BB962C8B-B14F-4D97-AF65-F5344CB8AC3E}">
        <p14:creationId xmlns:p14="http://schemas.microsoft.com/office/powerpoint/2010/main" val="22830131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13</a:t>
            </a:fld>
            <a:endParaRPr lang="en-US" dirty="0"/>
          </a:p>
        </p:txBody>
      </p:sp>
    </p:spTree>
    <p:extLst>
      <p:ext uri="{BB962C8B-B14F-4D97-AF65-F5344CB8AC3E}">
        <p14:creationId xmlns:p14="http://schemas.microsoft.com/office/powerpoint/2010/main" val="3736513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14</a:t>
            </a:fld>
            <a:endParaRPr lang="en-US" dirty="0"/>
          </a:p>
        </p:txBody>
      </p:sp>
    </p:spTree>
    <p:extLst>
      <p:ext uri="{BB962C8B-B14F-4D97-AF65-F5344CB8AC3E}">
        <p14:creationId xmlns:p14="http://schemas.microsoft.com/office/powerpoint/2010/main" val="11782308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15</a:t>
            </a:fld>
            <a:endParaRPr lang="en-US" dirty="0"/>
          </a:p>
        </p:txBody>
      </p:sp>
    </p:spTree>
    <p:extLst>
      <p:ext uri="{BB962C8B-B14F-4D97-AF65-F5344CB8AC3E}">
        <p14:creationId xmlns:p14="http://schemas.microsoft.com/office/powerpoint/2010/main" val="2552009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16</a:t>
            </a:fld>
            <a:endParaRPr lang="en-US" dirty="0"/>
          </a:p>
        </p:txBody>
      </p:sp>
    </p:spTree>
    <p:extLst>
      <p:ext uri="{BB962C8B-B14F-4D97-AF65-F5344CB8AC3E}">
        <p14:creationId xmlns:p14="http://schemas.microsoft.com/office/powerpoint/2010/main" val="24554724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17</a:t>
            </a:fld>
            <a:endParaRPr lang="en-US" dirty="0"/>
          </a:p>
        </p:txBody>
      </p:sp>
    </p:spTree>
    <p:extLst>
      <p:ext uri="{BB962C8B-B14F-4D97-AF65-F5344CB8AC3E}">
        <p14:creationId xmlns:p14="http://schemas.microsoft.com/office/powerpoint/2010/main" val="16686944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18</a:t>
            </a:fld>
            <a:endParaRPr lang="en-US" dirty="0"/>
          </a:p>
        </p:txBody>
      </p:sp>
    </p:spTree>
    <p:extLst>
      <p:ext uri="{BB962C8B-B14F-4D97-AF65-F5344CB8AC3E}">
        <p14:creationId xmlns:p14="http://schemas.microsoft.com/office/powerpoint/2010/main" val="1924128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19</a:t>
            </a:fld>
            <a:endParaRPr lang="en-US" dirty="0"/>
          </a:p>
        </p:txBody>
      </p:sp>
    </p:spTree>
    <p:extLst>
      <p:ext uri="{BB962C8B-B14F-4D97-AF65-F5344CB8AC3E}">
        <p14:creationId xmlns:p14="http://schemas.microsoft.com/office/powerpoint/2010/main" val="3272778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20</a:t>
            </a:fld>
            <a:endParaRPr lang="en-US" dirty="0"/>
          </a:p>
        </p:txBody>
      </p:sp>
    </p:spTree>
    <p:extLst>
      <p:ext uri="{BB962C8B-B14F-4D97-AF65-F5344CB8AC3E}">
        <p14:creationId xmlns:p14="http://schemas.microsoft.com/office/powerpoint/2010/main" val="1093269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21</a:t>
            </a:fld>
            <a:endParaRPr lang="en-US" dirty="0"/>
          </a:p>
        </p:txBody>
      </p:sp>
    </p:spTree>
    <p:extLst>
      <p:ext uri="{BB962C8B-B14F-4D97-AF65-F5344CB8AC3E}">
        <p14:creationId xmlns:p14="http://schemas.microsoft.com/office/powerpoint/2010/main" val="3257987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22</a:t>
            </a:fld>
            <a:endParaRPr lang="en-US" dirty="0"/>
          </a:p>
        </p:txBody>
      </p:sp>
    </p:spTree>
    <p:extLst>
      <p:ext uri="{BB962C8B-B14F-4D97-AF65-F5344CB8AC3E}">
        <p14:creationId xmlns:p14="http://schemas.microsoft.com/office/powerpoint/2010/main" val="993130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23</a:t>
            </a:fld>
            <a:endParaRPr lang="en-US" dirty="0"/>
          </a:p>
        </p:txBody>
      </p:sp>
    </p:spTree>
    <p:extLst>
      <p:ext uri="{BB962C8B-B14F-4D97-AF65-F5344CB8AC3E}">
        <p14:creationId xmlns:p14="http://schemas.microsoft.com/office/powerpoint/2010/main" val="35280957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24</a:t>
            </a:fld>
            <a:endParaRPr lang="en-US" dirty="0"/>
          </a:p>
        </p:txBody>
      </p:sp>
    </p:spTree>
    <p:extLst>
      <p:ext uri="{BB962C8B-B14F-4D97-AF65-F5344CB8AC3E}">
        <p14:creationId xmlns:p14="http://schemas.microsoft.com/office/powerpoint/2010/main" val="10191820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25</a:t>
            </a:fld>
            <a:endParaRPr lang="en-US" dirty="0"/>
          </a:p>
        </p:txBody>
      </p:sp>
    </p:spTree>
    <p:extLst>
      <p:ext uri="{BB962C8B-B14F-4D97-AF65-F5344CB8AC3E}">
        <p14:creationId xmlns:p14="http://schemas.microsoft.com/office/powerpoint/2010/main" val="4754533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26</a:t>
            </a:fld>
            <a:endParaRPr lang="en-US" dirty="0"/>
          </a:p>
        </p:txBody>
      </p:sp>
    </p:spTree>
    <p:extLst>
      <p:ext uri="{BB962C8B-B14F-4D97-AF65-F5344CB8AC3E}">
        <p14:creationId xmlns:p14="http://schemas.microsoft.com/office/powerpoint/2010/main" val="2290473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27</a:t>
            </a:fld>
            <a:endParaRPr lang="en-US" dirty="0"/>
          </a:p>
        </p:txBody>
      </p:sp>
    </p:spTree>
    <p:extLst>
      <p:ext uri="{BB962C8B-B14F-4D97-AF65-F5344CB8AC3E}">
        <p14:creationId xmlns:p14="http://schemas.microsoft.com/office/powerpoint/2010/main" val="6764510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28</a:t>
            </a:fld>
            <a:endParaRPr lang="en-US" dirty="0"/>
          </a:p>
        </p:txBody>
      </p:sp>
    </p:spTree>
    <p:extLst>
      <p:ext uri="{BB962C8B-B14F-4D97-AF65-F5344CB8AC3E}">
        <p14:creationId xmlns:p14="http://schemas.microsoft.com/office/powerpoint/2010/main" val="17599657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29</a:t>
            </a:fld>
            <a:endParaRPr lang="en-US" dirty="0"/>
          </a:p>
        </p:txBody>
      </p:sp>
    </p:spTree>
    <p:extLst>
      <p:ext uri="{BB962C8B-B14F-4D97-AF65-F5344CB8AC3E}">
        <p14:creationId xmlns:p14="http://schemas.microsoft.com/office/powerpoint/2010/main" val="3078255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30</a:t>
            </a:fld>
            <a:endParaRPr lang="en-US" dirty="0"/>
          </a:p>
        </p:txBody>
      </p:sp>
    </p:spTree>
    <p:extLst>
      <p:ext uri="{BB962C8B-B14F-4D97-AF65-F5344CB8AC3E}">
        <p14:creationId xmlns:p14="http://schemas.microsoft.com/office/powerpoint/2010/main" val="5010190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31</a:t>
            </a:fld>
            <a:endParaRPr lang="en-US" dirty="0"/>
          </a:p>
        </p:txBody>
      </p:sp>
    </p:spTree>
    <p:extLst>
      <p:ext uri="{BB962C8B-B14F-4D97-AF65-F5344CB8AC3E}">
        <p14:creationId xmlns:p14="http://schemas.microsoft.com/office/powerpoint/2010/main" val="5885007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32</a:t>
            </a:fld>
            <a:endParaRPr lang="en-US" dirty="0"/>
          </a:p>
        </p:txBody>
      </p:sp>
    </p:spTree>
    <p:extLst>
      <p:ext uri="{BB962C8B-B14F-4D97-AF65-F5344CB8AC3E}">
        <p14:creationId xmlns:p14="http://schemas.microsoft.com/office/powerpoint/2010/main" val="15129165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33</a:t>
            </a:fld>
            <a:endParaRPr lang="en-US" dirty="0"/>
          </a:p>
        </p:txBody>
      </p:sp>
    </p:spTree>
    <p:extLst>
      <p:ext uri="{BB962C8B-B14F-4D97-AF65-F5344CB8AC3E}">
        <p14:creationId xmlns:p14="http://schemas.microsoft.com/office/powerpoint/2010/main" val="8159902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34</a:t>
            </a:fld>
            <a:endParaRPr lang="en-US" dirty="0"/>
          </a:p>
        </p:txBody>
      </p:sp>
    </p:spTree>
    <p:extLst>
      <p:ext uri="{BB962C8B-B14F-4D97-AF65-F5344CB8AC3E}">
        <p14:creationId xmlns:p14="http://schemas.microsoft.com/office/powerpoint/2010/main" val="38714337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35</a:t>
            </a:fld>
            <a:endParaRPr lang="en-US" dirty="0"/>
          </a:p>
        </p:txBody>
      </p:sp>
    </p:spTree>
    <p:extLst>
      <p:ext uri="{BB962C8B-B14F-4D97-AF65-F5344CB8AC3E}">
        <p14:creationId xmlns:p14="http://schemas.microsoft.com/office/powerpoint/2010/main" val="2026157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36</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anchor="b">
            <a:noAutofit/>
          </a:bodyPr>
          <a:lstStyle>
            <a:lvl1pPr>
              <a:defRPr sz="4200" b="1">
                <a:latin typeface="+mj-lt"/>
              </a:defRPr>
            </a:lvl1pPr>
          </a:lstStyle>
          <a:p>
            <a:r>
              <a:rPr lang="en-US" dirty="0"/>
              <a:t>Click to add title</a:t>
            </a:r>
          </a:p>
        </p:txBody>
      </p:sp>
      <p:sp>
        <p:nvSpPr>
          <p:cNvPr id="4" name="Content Placeholder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a:noAutofit/>
          </a:bodyPr>
          <a:lstStyle>
            <a:lvl1pPr marL="0" indent="0">
              <a:buNone/>
              <a:defRPr sz="2000">
                <a:latin typeface="+mn-lt"/>
              </a:defRPr>
            </a:lvl1pPr>
            <a:lvl2pPr marL="457200" indent="0">
              <a:buNone/>
              <a:defRPr sz="2000">
                <a:latin typeface="+mn-lt"/>
              </a:defRPr>
            </a:lvl2pPr>
            <a:lvl3pPr marL="914400" indent="0">
              <a:buNone/>
              <a:defRPr sz="2000">
                <a:latin typeface="+mn-lt"/>
              </a:defRPr>
            </a:lvl3pPr>
            <a:lvl4pPr marL="1371600" indent="0">
              <a:buNone/>
              <a:defRPr sz="2000">
                <a:latin typeface="+mn-lt"/>
              </a:defRPr>
            </a:lvl4pPr>
            <a:lvl5pPr marL="1828800" inden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270985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2">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anchor="b">
            <a:noAutofit/>
          </a:bodyPr>
          <a:lstStyle>
            <a:lvl1pPr>
              <a:defRPr sz="4200" b="1">
                <a:latin typeface="+mj-lt"/>
              </a:defRPr>
            </a:lvl1pPr>
          </a:lstStyle>
          <a:p>
            <a:r>
              <a:rPr lang="en-US" dirty="0"/>
              <a:t>Click to add title</a:t>
            </a:r>
          </a:p>
        </p:txBody>
      </p:sp>
      <p:sp>
        <p:nvSpPr>
          <p:cNvPr id="15" name="Content Placeholder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anchor="ctr" anchorCtr="0">
            <a:noAutofit/>
          </a:bodyPr>
          <a:lstStyle>
            <a:lvl1pPr marL="0" indent="0" algn="ctr">
              <a:buFont typeface="Arial" panose="020B0604020202020204" pitchFamily="34" charset="0"/>
              <a:buNone/>
              <a:defRPr sz="2000">
                <a:latin typeface="+mn-lt"/>
              </a:defRPr>
            </a:lvl1pPr>
            <a:lvl2pPr marL="347663" indent="0" algn="ctr">
              <a:buFont typeface="Arial" panose="020B0604020202020204" pitchFamily="34" charset="0"/>
              <a:buNone/>
              <a:defRPr sz="2000">
                <a:latin typeface="+mn-lt"/>
              </a:defRPr>
            </a:lvl2pPr>
            <a:lvl3pPr marL="685800" indent="0" algn="ctr">
              <a:buFont typeface="Arial" panose="020B0604020202020204" pitchFamily="34" charset="0"/>
              <a:buNone/>
              <a:defRPr sz="2000">
                <a:latin typeface="+mn-lt"/>
              </a:defRPr>
            </a:lvl3pPr>
            <a:lvl4pPr marL="914400" indent="0" algn="ctr">
              <a:buFont typeface="Arial" panose="020B0604020202020204" pitchFamily="34" charset="0"/>
              <a:buNone/>
              <a:defRPr sz="2000">
                <a:latin typeface="+mn-lt"/>
              </a:defRPr>
            </a:lvl4pPr>
            <a:lvl5pPr marL="1143000" indent="0" algn="ctr">
              <a:buFont typeface="Arial" panose="020B0604020202020204" pitchFamily="34" charset="0"/>
              <a:buNone/>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
        <p:nvSpPr>
          <p:cNvPr id="3" name="Content Placeholder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a:normAutofit/>
          </a:bodyPr>
          <a:lstStyle>
            <a:lvl1pPr marL="283464" indent="-283464">
              <a:spcBef>
                <a:spcPts val="1000"/>
              </a:spcBef>
              <a:buFont typeface="Arial" panose="020B0604020202020204" pitchFamily="34" charset="0"/>
              <a:buChar char="•"/>
              <a:defRPr sz="2000">
                <a:solidFill>
                  <a:schemeClr val="tx1"/>
                </a:solidFill>
                <a:latin typeface="+mn-lt"/>
              </a:defRPr>
            </a:lvl1pPr>
            <a:lvl2pPr marL="566928" indent="-283464">
              <a:spcBef>
                <a:spcPts val="1000"/>
              </a:spcBef>
              <a:buFont typeface="Arial" panose="020B0604020202020204" pitchFamily="34" charset="0"/>
              <a:buChar char="•"/>
              <a:defRPr sz="2000">
                <a:solidFill>
                  <a:schemeClr val="tx1"/>
                </a:solidFill>
                <a:latin typeface="+mn-lt"/>
              </a:defRPr>
            </a:lvl2pPr>
            <a:lvl3pPr marL="850392" indent="-283464">
              <a:spcBef>
                <a:spcPts val="1000"/>
              </a:spcBef>
              <a:buFont typeface="Arial" panose="020B0604020202020204" pitchFamily="34" charset="0"/>
              <a:buChar char="•"/>
              <a:defRPr sz="2000">
                <a:solidFill>
                  <a:schemeClr val="tx1"/>
                </a:solidFill>
                <a:latin typeface="+mn-lt"/>
              </a:defRPr>
            </a:lvl3pPr>
            <a:lvl4pPr marL="1133856" indent="-283464">
              <a:spcBef>
                <a:spcPts val="1000"/>
              </a:spcBef>
              <a:buFont typeface="Arial" panose="020B0604020202020204" pitchFamily="34" charset="0"/>
              <a:buChar char="•"/>
              <a:defRPr sz="2000">
                <a:solidFill>
                  <a:schemeClr val="tx1"/>
                </a:solidFill>
                <a:latin typeface="+mn-lt"/>
              </a:defRPr>
            </a:lvl4pPr>
            <a:lvl5pPr marL="1463040" indent="-283464">
              <a:spcBef>
                <a:spcPts val="1000"/>
              </a:spcBef>
              <a:buFont typeface="Arial" panose="020B0604020202020204" pitchFamily="34" charset="0"/>
              <a:buChar char="•"/>
              <a:defRPr sz="2000">
                <a:solidFill>
                  <a:schemeClr val="tx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2565617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1" r:id="rId4"/>
    <p:sldLayoutId id="2147483659" r:id="rId5"/>
    <p:sldLayoutId id="2147483668" r:id="rId6"/>
    <p:sldLayoutId id="2147483669" r:id="rId7"/>
    <p:sldLayoutId id="2147483677" r:id="rId8"/>
    <p:sldLayoutId id="2147483676" r:id="rId9"/>
    <p:sldLayoutId id="2147483661" r:id="rId10"/>
    <p:sldLayoutId id="2147483666" r:id="rId11"/>
  </p:sldLayoutIdLst>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28164" y="235974"/>
            <a:ext cx="7096933" cy="2489882"/>
          </a:xfrm>
        </p:spPr>
        <p:txBody>
          <a:bodyPr/>
          <a:lstStyle/>
          <a:p>
            <a:r>
              <a:rPr lang="en-US" dirty="0"/>
              <a:t>A Novel TF-IDF Weighting Scheme for Effective Ranking</a:t>
            </a:r>
          </a:p>
        </p:txBody>
      </p:sp>
      <p:sp>
        <p:nvSpPr>
          <p:cNvPr id="3" name="TextBox 2">
            <a:extLst>
              <a:ext uri="{FF2B5EF4-FFF2-40B4-BE49-F238E27FC236}">
                <a16:creationId xmlns:a16="http://schemas.microsoft.com/office/drawing/2014/main" id="{5C681D93-BA39-9B28-E791-AE4CB1E6BFCE}"/>
              </a:ext>
            </a:extLst>
          </p:cNvPr>
          <p:cNvSpPr txBox="1"/>
          <p:nvPr/>
        </p:nvSpPr>
        <p:spPr>
          <a:xfrm>
            <a:off x="1128164" y="2991327"/>
            <a:ext cx="9232079" cy="523220"/>
          </a:xfrm>
          <a:prstGeom prst="rect">
            <a:avLst/>
          </a:prstGeom>
          <a:noFill/>
        </p:spPr>
        <p:txBody>
          <a:bodyPr wrap="none" rtlCol="0">
            <a:spAutoFit/>
          </a:bodyPr>
          <a:lstStyle/>
          <a:p>
            <a:r>
              <a:rPr lang="it-IT" sz="2800" b="1" dirty="0">
                <a:effectLst>
                  <a:outerShdw blurRad="38100" dist="38100" dir="2700000" algn="tl">
                    <a:srgbClr val="000000">
                      <a:alpha val="43137"/>
                    </a:srgbClr>
                  </a:outerShdw>
                </a:effectLst>
              </a:rPr>
              <a:t>By Jiaul H. Paik, Indian Statistical Institute, Kolkata, India</a:t>
            </a:r>
            <a:endParaRPr lang="en-IN" sz="2800" b="1" dirty="0">
              <a:effectLst>
                <a:outerShdw blurRad="38100" dist="38100" dir="2700000" algn="tl">
                  <a:srgbClr val="000000">
                    <a:alpha val="43137"/>
                  </a:srgbClr>
                </a:outerShdw>
              </a:effectLst>
            </a:endParaRPr>
          </a:p>
        </p:txBody>
      </p:sp>
      <p:sp>
        <p:nvSpPr>
          <p:cNvPr id="4" name="TextBox 3">
            <a:extLst>
              <a:ext uri="{FF2B5EF4-FFF2-40B4-BE49-F238E27FC236}">
                <a16:creationId xmlns:a16="http://schemas.microsoft.com/office/drawing/2014/main" id="{4A6B3170-B304-6662-8F74-24D5409D4C47}"/>
              </a:ext>
            </a:extLst>
          </p:cNvPr>
          <p:cNvSpPr txBox="1"/>
          <p:nvPr/>
        </p:nvSpPr>
        <p:spPr>
          <a:xfrm>
            <a:off x="4367051" y="4628399"/>
            <a:ext cx="2841868" cy="830997"/>
          </a:xfrm>
          <a:prstGeom prst="rect">
            <a:avLst/>
          </a:prstGeom>
          <a:noFill/>
        </p:spPr>
        <p:txBody>
          <a:bodyPr wrap="none" rtlCol="0">
            <a:spAutoFit/>
          </a:bodyPr>
          <a:lstStyle/>
          <a:p>
            <a:pPr algn="ctr"/>
            <a:r>
              <a:rPr lang="it-IT" sz="2400" b="1" dirty="0">
                <a:effectLst>
                  <a:outerShdw blurRad="38100" dist="38100" dir="2700000" algn="tl">
                    <a:srgbClr val="000000">
                      <a:alpha val="43137"/>
                    </a:srgbClr>
                  </a:outerShdw>
                </a:effectLst>
              </a:rPr>
              <a:t>Presented By </a:t>
            </a:r>
          </a:p>
          <a:p>
            <a:pPr algn="ctr"/>
            <a:r>
              <a:rPr lang="it-IT" sz="2400" b="1" dirty="0">
                <a:effectLst>
                  <a:outerShdw blurRad="38100" dist="38100" dir="2700000" algn="tl">
                    <a:srgbClr val="000000">
                      <a:alpha val="43137"/>
                    </a:srgbClr>
                  </a:outerShdw>
                </a:effectLst>
              </a:rPr>
              <a:t>Sharanya Dasgupta</a:t>
            </a:r>
            <a:endParaRPr lang="en-IN"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5846677E-736A-39F6-9C6D-D6B450FBC951}"/>
              </a:ext>
            </a:extLst>
          </p:cNvPr>
          <p:cNvSpPr txBox="1">
            <a:spLocks/>
          </p:cNvSpPr>
          <p:nvPr/>
        </p:nvSpPr>
        <p:spPr>
          <a:xfrm>
            <a:off x="1158864" y="68826"/>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INTRODUCTION</a:t>
            </a:r>
          </a:p>
        </p:txBody>
      </p:sp>
      <p:sp>
        <p:nvSpPr>
          <p:cNvPr id="6" name="Content Placeholder 5">
            <a:extLst>
              <a:ext uri="{FF2B5EF4-FFF2-40B4-BE49-F238E27FC236}">
                <a16:creationId xmlns:a16="http://schemas.microsoft.com/office/drawing/2014/main" id="{D274FE27-384F-14BE-C8BE-CDF49D1BC4E1}"/>
              </a:ext>
            </a:extLst>
          </p:cNvPr>
          <p:cNvSpPr>
            <a:spLocks noGrp="1"/>
          </p:cNvSpPr>
          <p:nvPr>
            <p:ph idx="1"/>
          </p:nvPr>
        </p:nvSpPr>
        <p:spPr>
          <a:xfrm>
            <a:off x="1158864" y="1838633"/>
            <a:ext cx="10128567" cy="3545650"/>
          </a:xfrm>
        </p:spPr>
        <p:txBody>
          <a:bodyPr>
            <a:normAutofit/>
          </a:bodyPr>
          <a:lstStyle/>
          <a:p>
            <a:r>
              <a:rPr lang="en-US" dirty="0">
                <a:latin typeface="Cambria" panose="02040503050406030204" pitchFamily="18" charset="0"/>
                <a:ea typeface="Cambria" panose="02040503050406030204" pitchFamily="18" charset="0"/>
              </a:rPr>
              <a:t>This Paper proposes a novel TF-IDF term weighting scheme that employs </a:t>
            </a:r>
            <a:r>
              <a:rPr lang="en-US" b="1" dirty="0">
                <a:latin typeface="Cambria" panose="02040503050406030204" pitchFamily="18" charset="0"/>
                <a:ea typeface="Cambria" panose="02040503050406030204" pitchFamily="18" charset="0"/>
              </a:rPr>
              <a:t>two different within document term frequency </a:t>
            </a:r>
            <a:r>
              <a:rPr lang="en-US" dirty="0">
                <a:latin typeface="Cambria" panose="02040503050406030204" pitchFamily="18" charset="0"/>
                <a:ea typeface="Cambria" panose="02040503050406030204" pitchFamily="18" charset="0"/>
              </a:rPr>
              <a:t>normalizations to capture two different aspects of term saliency. One component of the term frequency </a:t>
            </a:r>
            <a:r>
              <a:rPr lang="en-US" b="1" dirty="0">
                <a:latin typeface="Cambria" panose="02040503050406030204" pitchFamily="18" charset="0"/>
                <a:ea typeface="Cambria" panose="02040503050406030204" pitchFamily="18" charset="0"/>
              </a:rPr>
              <a:t>is effective for short queries</a:t>
            </a:r>
            <a:r>
              <a:rPr lang="en-US" dirty="0">
                <a:latin typeface="Cambria" panose="02040503050406030204" pitchFamily="18" charset="0"/>
                <a:ea typeface="Cambria" panose="02040503050406030204" pitchFamily="18" charset="0"/>
              </a:rPr>
              <a:t>, while the other performs </a:t>
            </a:r>
            <a:r>
              <a:rPr lang="en-US" b="1" dirty="0">
                <a:latin typeface="Cambria" panose="02040503050406030204" pitchFamily="18" charset="0"/>
                <a:ea typeface="Cambria" panose="02040503050406030204" pitchFamily="18" charset="0"/>
              </a:rPr>
              <a:t>better on long queries</a:t>
            </a:r>
            <a:r>
              <a:rPr lang="en-US" dirty="0">
                <a:latin typeface="Cambria" panose="02040503050406030204" pitchFamily="18" charset="0"/>
                <a:ea typeface="Cambria" panose="02040503050406030204" pitchFamily="18" charset="0"/>
              </a:rPr>
              <a:t>. The final weight is then measured by taking a weighted combination of these components, which is determined on the basis of the </a:t>
            </a:r>
            <a:r>
              <a:rPr lang="en-US" b="1" dirty="0">
                <a:latin typeface="Cambria" panose="02040503050406030204" pitchFamily="18" charset="0"/>
                <a:ea typeface="Cambria" panose="02040503050406030204" pitchFamily="18" charset="0"/>
              </a:rPr>
              <a:t>length of the corresponding query</a:t>
            </a: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2560859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5">
            <a:extLst>
              <a:ext uri="{FF2B5EF4-FFF2-40B4-BE49-F238E27FC236}">
                <a16:creationId xmlns:a16="http://schemas.microsoft.com/office/drawing/2014/main" id="{0F40C207-CB4F-BD22-7642-B96DCF0D34A2}"/>
              </a:ext>
            </a:extLst>
          </p:cNvPr>
          <p:cNvSpPr txBox="1">
            <a:spLocks/>
          </p:cNvSpPr>
          <p:nvPr/>
        </p:nvSpPr>
        <p:spPr>
          <a:xfrm>
            <a:off x="404066" y="1029324"/>
            <a:ext cx="10883366"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Given a query Q and a document D, the main task of a ranking function is to assign a score to D with respect to the query Q. Thus, before we give the main motivation behind our work, let us first revisit the three key hypotheses.</a:t>
            </a:r>
          </a:p>
          <a:p>
            <a:pPr marL="0" indent="0">
              <a:buNone/>
            </a:pPr>
            <a:r>
              <a:rPr lang="en-US" b="1" dirty="0">
                <a:latin typeface="Cambria" panose="02040503050406030204" pitchFamily="18" charset="0"/>
                <a:ea typeface="Cambria" panose="02040503050406030204" pitchFamily="18" charset="0"/>
              </a:rPr>
              <a:t>Term Frequency Hypothesis (TFH): </a:t>
            </a:r>
          </a:p>
          <a:p>
            <a:pPr marL="0" indent="0">
              <a:buNone/>
            </a:pPr>
            <a:r>
              <a:rPr lang="en-US" dirty="0">
                <a:latin typeface="Cambria" panose="02040503050406030204" pitchFamily="18" charset="0"/>
                <a:ea typeface="Cambria" panose="02040503050406030204" pitchFamily="18" charset="0"/>
              </a:rPr>
              <a:t>The weight of term in a document should </a:t>
            </a:r>
            <a:r>
              <a:rPr lang="en-US" b="1" dirty="0">
                <a:latin typeface="Cambria" panose="02040503050406030204" pitchFamily="18" charset="0"/>
                <a:ea typeface="Cambria" panose="02040503050406030204" pitchFamily="18" charset="0"/>
              </a:rPr>
              <a:t>increase</a:t>
            </a:r>
            <a:r>
              <a:rPr lang="en-US" dirty="0">
                <a:latin typeface="Cambria" panose="02040503050406030204" pitchFamily="18" charset="0"/>
                <a:ea typeface="Cambria" panose="02040503050406030204" pitchFamily="18" charset="0"/>
              </a:rPr>
              <a:t> with the increase in term frequency (TF). However, it seems unlikely that the importance of a term grows linearly with the increase in TF. Therefore, researchers have used dampened and the damping function has been </a:t>
            </a:r>
            <a:r>
              <a:rPr lang="en-US" b="1" dirty="0">
                <a:latin typeface="Cambria" panose="02040503050406030204" pitchFamily="18" charset="0"/>
                <a:ea typeface="Cambria" panose="02040503050406030204" pitchFamily="18" charset="0"/>
              </a:rPr>
              <a:t>log(TF).</a:t>
            </a:r>
          </a:p>
        </p:txBody>
      </p:sp>
      <p:sp>
        <p:nvSpPr>
          <p:cNvPr id="13" name="Title 4">
            <a:extLst>
              <a:ext uri="{FF2B5EF4-FFF2-40B4-BE49-F238E27FC236}">
                <a16:creationId xmlns:a16="http://schemas.microsoft.com/office/drawing/2014/main" id="{53C95FEF-E260-6551-8055-2C9D58630EC7}"/>
              </a:ext>
            </a:extLst>
          </p:cNvPr>
          <p:cNvSpPr txBox="1">
            <a:spLocks/>
          </p:cNvSpPr>
          <p:nvPr/>
        </p:nvSpPr>
        <p:spPr>
          <a:xfrm>
            <a:off x="404066" y="219146"/>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PRELIMINARIES</a:t>
            </a:r>
          </a:p>
        </p:txBody>
      </p:sp>
    </p:spTree>
    <p:extLst>
      <p:ext uri="{BB962C8B-B14F-4D97-AF65-F5344CB8AC3E}">
        <p14:creationId xmlns:p14="http://schemas.microsoft.com/office/powerpoint/2010/main" val="85326102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4">
            <a:extLst>
              <a:ext uri="{FF2B5EF4-FFF2-40B4-BE49-F238E27FC236}">
                <a16:creationId xmlns:a16="http://schemas.microsoft.com/office/drawing/2014/main" id="{883D29A8-FD86-D814-C4EC-719B1B918E77}"/>
              </a:ext>
            </a:extLst>
          </p:cNvPr>
          <p:cNvSpPr txBox="1">
            <a:spLocks/>
          </p:cNvSpPr>
          <p:nvPr/>
        </p:nvSpPr>
        <p:spPr>
          <a:xfrm>
            <a:off x="404066" y="206477"/>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PRELIMINARIES</a:t>
            </a:r>
          </a:p>
        </p:txBody>
      </p:sp>
      <p:sp>
        <p:nvSpPr>
          <p:cNvPr id="16" name="Content Placeholder 5">
            <a:extLst>
              <a:ext uri="{FF2B5EF4-FFF2-40B4-BE49-F238E27FC236}">
                <a16:creationId xmlns:a16="http://schemas.microsoft.com/office/drawing/2014/main" id="{98E4E19F-5CF3-C892-2047-5D56F4521A58}"/>
              </a:ext>
            </a:extLst>
          </p:cNvPr>
          <p:cNvSpPr txBox="1">
            <a:spLocks/>
          </p:cNvSpPr>
          <p:nvPr/>
        </p:nvSpPr>
        <p:spPr>
          <a:xfrm>
            <a:off x="404066" y="1088318"/>
            <a:ext cx="10467134"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ambria" panose="02040503050406030204" pitchFamily="18" charset="0"/>
                <a:ea typeface="Cambria" panose="02040503050406030204" pitchFamily="18" charset="0"/>
              </a:rPr>
              <a:t>Advanced TF Hypothesis (AD-TFH): </a:t>
            </a:r>
          </a:p>
          <a:p>
            <a:pPr marL="0" indent="0">
              <a:buNone/>
            </a:pP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rate of change of weight of a term should decrease with the larger TF</a:t>
            </a:r>
            <a:r>
              <a:rPr lang="en-US" dirty="0">
                <a:latin typeface="Cambria" panose="02040503050406030204" pitchFamily="18" charset="0"/>
                <a:ea typeface="Cambria" panose="02040503050406030204" pitchFamily="18" charset="0"/>
              </a:rPr>
              <a:t>. For example, the change in the weight caused by increasing TF from 2 to 3 should be higher than that caused by increasing TF from 25 to 26. Formally, we hypothesize that, a function F</a:t>
            </a:r>
            <a:r>
              <a:rPr lang="en-US" sz="1800" dirty="0">
                <a:latin typeface="Cambria" panose="02040503050406030204" pitchFamily="18" charset="0"/>
                <a:ea typeface="Cambria" panose="02040503050406030204" pitchFamily="18" charset="0"/>
              </a:rPr>
              <a:t>t</a:t>
            </a:r>
            <a:r>
              <a:rPr lang="en-US" dirty="0">
                <a:latin typeface="Cambria" panose="02040503050406030204" pitchFamily="18" charset="0"/>
                <a:ea typeface="Cambria" panose="02040503050406030204" pitchFamily="18" charset="0"/>
              </a:rPr>
              <a:t>(TF), that maps the original TF to the resultant value (which will be used for final weighting), should possess the following two properties.</a:t>
            </a:r>
          </a:p>
          <a:p>
            <a:pPr marL="0" indent="0">
              <a:buNone/>
            </a:pPr>
            <a:endParaRPr lang="en-US" dirty="0">
              <a:latin typeface="Cambria" panose="02040503050406030204" pitchFamily="18" charset="0"/>
              <a:ea typeface="Cambria" panose="02040503050406030204" pitchFamily="18" charset="0"/>
            </a:endParaRPr>
          </a:p>
          <a:p>
            <a:pPr marL="514350" indent="-514350" algn="ctr">
              <a:buAutoNum type="alphaLcParenBoth"/>
            </a:pPr>
            <a:r>
              <a:rPr lang="en-US" b="1" dirty="0" err="1">
                <a:latin typeface="Cambria" panose="02040503050406030204" pitchFamily="18" charset="0"/>
                <a:ea typeface="Cambria" panose="02040503050406030204" pitchFamily="18" charset="0"/>
              </a:rPr>
              <a:t>F’</a:t>
            </a:r>
            <a:r>
              <a:rPr lang="en-US" sz="1800" b="1" dirty="0" err="1">
                <a:latin typeface="Cambria" panose="02040503050406030204" pitchFamily="18" charset="0"/>
                <a:ea typeface="Cambria" panose="02040503050406030204" pitchFamily="18" charset="0"/>
              </a:rPr>
              <a:t>t</a:t>
            </a:r>
            <a:r>
              <a:rPr lang="en-US" b="1" dirty="0">
                <a:latin typeface="Cambria" panose="02040503050406030204" pitchFamily="18" charset="0"/>
                <a:ea typeface="Cambria" panose="02040503050406030204" pitchFamily="18" charset="0"/>
              </a:rPr>
              <a:t>(TF) &gt; 0           (b) </a:t>
            </a:r>
            <a:r>
              <a:rPr lang="en-US" b="1" dirty="0" err="1">
                <a:latin typeface="Cambria" panose="02040503050406030204" pitchFamily="18" charset="0"/>
                <a:ea typeface="Cambria" panose="02040503050406030204" pitchFamily="18" charset="0"/>
              </a:rPr>
              <a:t>F’’</a:t>
            </a:r>
            <a:r>
              <a:rPr lang="en-US" sz="1600" b="1" dirty="0" err="1">
                <a:latin typeface="Cambria" panose="02040503050406030204" pitchFamily="18" charset="0"/>
                <a:ea typeface="Cambria" panose="02040503050406030204" pitchFamily="18" charset="0"/>
              </a:rPr>
              <a:t>t</a:t>
            </a:r>
            <a:r>
              <a:rPr lang="en-US" b="1" dirty="0">
                <a:latin typeface="Cambria" panose="02040503050406030204" pitchFamily="18" charset="0"/>
                <a:ea typeface="Cambria" panose="02040503050406030204" pitchFamily="18" charset="0"/>
              </a:rPr>
              <a:t>(TF), &lt; 0</a:t>
            </a:r>
          </a:p>
        </p:txBody>
      </p:sp>
    </p:spTree>
    <p:extLst>
      <p:ext uri="{BB962C8B-B14F-4D97-AF65-F5344CB8AC3E}">
        <p14:creationId xmlns:p14="http://schemas.microsoft.com/office/powerpoint/2010/main" val="421008379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D217EF69-65EB-5856-23A5-3F87B416DE5C}"/>
              </a:ext>
            </a:extLst>
          </p:cNvPr>
          <p:cNvSpPr txBox="1">
            <a:spLocks/>
          </p:cNvSpPr>
          <p:nvPr/>
        </p:nvSpPr>
        <p:spPr>
          <a:xfrm>
            <a:off x="7264401" y="138307"/>
            <a:ext cx="4236720"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PRELIMINARIES</a:t>
            </a:r>
          </a:p>
        </p:txBody>
      </p:sp>
      <p:sp>
        <p:nvSpPr>
          <p:cNvPr id="13" name="Content Placeholder 5">
            <a:extLst>
              <a:ext uri="{FF2B5EF4-FFF2-40B4-BE49-F238E27FC236}">
                <a16:creationId xmlns:a16="http://schemas.microsoft.com/office/drawing/2014/main" id="{A69A38F6-F1DD-D837-B42A-B722345A0CD7}"/>
              </a:ext>
            </a:extLst>
          </p:cNvPr>
          <p:cNvSpPr txBox="1">
            <a:spLocks/>
          </p:cNvSpPr>
          <p:nvPr/>
        </p:nvSpPr>
        <p:spPr>
          <a:xfrm>
            <a:off x="885846" y="781337"/>
            <a:ext cx="10615275" cy="66036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ambria" panose="02040503050406030204" pitchFamily="18" charset="0"/>
                <a:ea typeface="Cambria" panose="02040503050406030204" pitchFamily="18" charset="0"/>
              </a:rPr>
              <a:t>Document Length Hypothesis (DLH): </a:t>
            </a:r>
          </a:p>
          <a:p>
            <a:pPr marL="0" indent="0">
              <a:buNone/>
            </a:pPr>
            <a:r>
              <a:rPr lang="en-US" dirty="0">
                <a:latin typeface="Cambria" panose="02040503050406030204" pitchFamily="18" charset="0"/>
                <a:ea typeface="Cambria" panose="02040503050406030204" pitchFamily="18" charset="0"/>
              </a:rPr>
              <a:t>Long documents tend to use a term repeatedly, thus term frequency can be higher in a long document. Thus, it is necessary to regulate the TF value in accordance with the document length. The general principle is that if two documents have different lengths and the same TF values for a term t, then the </a:t>
            </a:r>
            <a:r>
              <a:rPr lang="en-US" b="1" dirty="0">
                <a:latin typeface="Cambria" panose="02040503050406030204" pitchFamily="18" charset="0"/>
                <a:ea typeface="Cambria" panose="02040503050406030204" pitchFamily="18" charset="0"/>
              </a:rPr>
              <a:t>contribution of TF (of t) should be higher for the shorter document.</a:t>
            </a:r>
          </a:p>
          <a:p>
            <a:pPr marL="0" indent="0">
              <a:buNone/>
            </a:pPr>
            <a:endParaRPr lang="en-US" b="1" dirty="0">
              <a:latin typeface="Cambria" panose="02040503050406030204" pitchFamily="18" charset="0"/>
              <a:ea typeface="Cambria" panose="02040503050406030204" pitchFamily="18" charset="0"/>
            </a:endParaRPr>
          </a:p>
          <a:p>
            <a:pPr marL="0" indent="0">
              <a:buNone/>
            </a:pPr>
            <a:r>
              <a:rPr lang="en-US" b="1" dirty="0">
                <a:latin typeface="Cambria" panose="02040503050406030204" pitchFamily="18" charset="0"/>
                <a:ea typeface="Cambria" panose="02040503050406030204" pitchFamily="18" charset="0"/>
              </a:rPr>
              <a:t>Term Discrimination Hypothesis (TDH): </a:t>
            </a:r>
          </a:p>
          <a:p>
            <a:pPr marL="0" indent="0">
              <a:buNone/>
            </a:pPr>
            <a:r>
              <a:rPr lang="en-US" dirty="0">
                <a:latin typeface="Cambria" panose="02040503050406030204" pitchFamily="18" charset="0"/>
                <a:ea typeface="Cambria" panose="02040503050406030204" pitchFamily="18" charset="0"/>
              </a:rPr>
              <a:t>If a query contains more than one term, then a good weighting scheme should </a:t>
            </a:r>
            <a:r>
              <a:rPr lang="en-US" b="1" dirty="0">
                <a:latin typeface="Cambria" panose="02040503050406030204" pitchFamily="18" charset="0"/>
                <a:ea typeface="Cambria" panose="02040503050406030204" pitchFamily="18" charset="0"/>
              </a:rPr>
              <a:t>prefer a document </a:t>
            </a:r>
            <a:r>
              <a:rPr lang="en-US" dirty="0">
                <a:latin typeface="Cambria" panose="02040503050406030204" pitchFamily="18" charset="0"/>
                <a:ea typeface="Cambria" panose="02040503050406030204" pitchFamily="18" charset="0"/>
              </a:rPr>
              <a:t>that contains the </a:t>
            </a:r>
            <a:r>
              <a:rPr lang="en-US" b="1" dirty="0">
                <a:latin typeface="Cambria" panose="02040503050406030204" pitchFamily="18" charset="0"/>
                <a:ea typeface="Cambria" panose="02040503050406030204" pitchFamily="18" charset="0"/>
              </a:rPr>
              <a:t>rare term (in the collection).</a:t>
            </a:r>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6267716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5846677E-736A-39F6-9C6D-D6B450FBC951}"/>
              </a:ext>
            </a:extLst>
          </p:cNvPr>
          <p:cNvSpPr txBox="1">
            <a:spLocks/>
          </p:cNvSpPr>
          <p:nvPr/>
        </p:nvSpPr>
        <p:spPr>
          <a:xfrm>
            <a:off x="1158864" y="68826"/>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Two Aspects of TF</a:t>
            </a:r>
          </a:p>
        </p:txBody>
      </p:sp>
      <p:sp>
        <p:nvSpPr>
          <p:cNvPr id="6" name="Content Placeholder 5">
            <a:extLst>
              <a:ext uri="{FF2B5EF4-FFF2-40B4-BE49-F238E27FC236}">
                <a16:creationId xmlns:a16="http://schemas.microsoft.com/office/drawing/2014/main" id="{D274FE27-384F-14BE-C8BE-CDF49D1BC4E1}"/>
              </a:ext>
            </a:extLst>
          </p:cNvPr>
          <p:cNvSpPr>
            <a:spLocks noGrp="1"/>
          </p:cNvSpPr>
          <p:nvPr>
            <p:ph idx="1"/>
          </p:nvPr>
        </p:nvSpPr>
        <p:spPr>
          <a:xfrm>
            <a:off x="1158865" y="899867"/>
            <a:ext cx="9779182" cy="5338373"/>
          </a:xfrm>
        </p:spPr>
        <p:txBody>
          <a:bodyPr/>
          <a:lstStyle/>
          <a:p>
            <a:r>
              <a:rPr lang="en-US" b="1" dirty="0">
                <a:latin typeface="Cambria" panose="02040503050406030204" pitchFamily="18" charset="0"/>
                <a:ea typeface="Cambria" panose="02040503050406030204" pitchFamily="18" charset="0"/>
              </a:rPr>
              <a:t>Relative Intra-document TF (RITF) :</a:t>
            </a:r>
          </a:p>
          <a:p>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In this factor, the importance of a term is measured by considering its </a:t>
            </a:r>
            <a:r>
              <a:rPr lang="en-US" b="1" dirty="0">
                <a:latin typeface="Cambria" panose="02040503050406030204" pitchFamily="18" charset="0"/>
                <a:ea typeface="Cambria" panose="02040503050406030204" pitchFamily="18" charset="0"/>
              </a:rPr>
              <a:t>frequency relative to the average TF </a:t>
            </a:r>
            <a:r>
              <a:rPr lang="en-US" dirty="0">
                <a:latin typeface="Cambria" panose="02040503050406030204" pitchFamily="18" charset="0"/>
                <a:ea typeface="Cambria" panose="02040503050406030204" pitchFamily="18" charset="0"/>
              </a:rPr>
              <a:t>of the document. Thus, a natural formulation for this could be</a:t>
            </a:r>
          </a:p>
          <a:p>
            <a:endParaRPr lang="en-US" dirty="0">
              <a:latin typeface="Cambria" panose="02040503050406030204" pitchFamily="18" charset="0"/>
              <a:ea typeface="Cambria" panose="02040503050406030204" pitchFamily="18" charset="0"/>
            </a:endParaRPr>
          </a:p>
          <a:p>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where 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and Avg.TF(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denote the frequency of the term t in D and average term frequency of D respectively. However, this may too much </a:t>
            </a:r>
            <a:r>
              <a:rPr lang="en-US" b="1" dirty="0">
                <a:latin typeface="Cambria" panose="02040503050406030204" pitchFamily="18" charset="0"/>
                <a:ea typeface="Cambria" panose="02040503050406030204" pitchFamily="18" charset="0"/>
              </a:rPr>
              <a:t>prefer excessively long documents</a:t>
            </a:r>
            <a:r>
              <a:rPr lang="en-US" dirty="0">
                <a:latin typeface="Cambria" panose="02040503050406030204" pitchFamily="18" charset="0"/>
                <a:ea typeface="Cambria" panose="02040503050406030204" pitchFamily="18" charset="0"/>
              </a:rPr>
              <a:t>, since the denominator is close to 1 for a very long document.</a:t>
            </a:r>
          </a:p>
          <a:p>
            <a:endParaRPr lang="en-IN"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AFC97C5-E3DE-6671-93F5-DD9D8F152681}"/>
              </a:ext>
            </a:extLst>
          </p:cNvPr>
          <p:cNvPicPr>
            <a:picLocks noChangeAspect="1"/>
          </p:cNvPicPr>
          <p:nvPr/>
        </p:nvPicPr>
        <p:blipFill>
          <a:blip r:embed="rId3"/>
          <a:stretch>
            <a:fillRect/>
          </a:stretch>
        </p:blipFill>
        <p:spPr>
          <a:xfrm>
            <a:off x="3966865" y="2583274"/>
            <a:ext cx="4258269" cy="1038370"/>
          </a:xfrm>
          <a:prstGeom prst="rect">
            <a:avLst/>
          </a:prstGeom>
        </p:spPr>
      </p:pic>
    </p:spTree>
    <p:extLst>
      <p:ext uri="{BB962C8B-B14F-4D97-AF65-F5344CB8AC3E}">
        <p14:creationId xmlns:p14="http://schemas.microsoft.com/office/powerpoint/2010/main" val="87986591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36E883-B488-150A-2679-B3EED5106C25}"/>
              </a:ext>
            </a:extLst>
          </p:cNvPr>
          <p:cNvSpPr txBox="1">
            <a:spLocks/>
          </p:cNvSpPr>
          <p:nvPr/>
        </p:nvSpPr>
        <p:spPr>
          <a:xfrm>
            <a:off x="1158864" y="68826"/>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Two Aspects of TF</a:t>
            </a:r>
          </a:p>
        </p:txBody>
      </p:sp>
      <p:sp>
        <p:nvSpPr>
          <p:cNvPr id="6" name="Content Placeholder 5">
            <a:extLst>
              <a:ext uri="{FF2B5EF4-FFF2-40B4-BE49-F238E27FC236}">
                <a16:creationId xmlns:a16="http://schemas.microsoft.com/office/drawing/2014/main" id="{1C133F71-E3BB-A98D-CC91-C4A745358B9A}"/>
              </a:ext>
            </a:extLst>
          </p:cNvPr>
          <p:cNvSpPr txBox="1">
            <a:spLocks/>
          </p:cNvSpPr>
          <p:nvPr/>
        </p:nvSpPr>
        <p:spPr>
          <a:xfrm>
            <a:off x="1158864" y="796413"/>
            <a:ext cx="10108903" cy="544182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Hence, a </a:t>
            </a:r>
            <a:r>
              <a:rPr lang="en-US" b="1" dirty="0">
                <a:latin typeface="Cambria" panose="02040503050406030204" pitchFamily="18" charset="0"/>
                <a:ea typeface="Cambria" panose="02040503050406030204" pitchFamily="18" charset="0"/>
              </a:rPr>
              <a:t>sublinear damping</a:t>
            </a:r>
            <a:r>
              <a:rPr lang="en-US" dirty="0">
                <a:latin typeface="Cambria" panose="02040503050406030204" pitchFamily="18" charset="0"/>
                <a:ea typeface="Cambria" panose="02040503050406030204" pitchFamily="18" charset="0"/>
              </a:rPr>
              <a:t> of TF seems to be a better choice over the raw TF and thus we use the following function.</a:t>
            </a: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b="1" dirty="0">
                <a:latin typeface="Cambria" panose="02040503050406030204" pitchFamily="18" charset="0"/>
                <a:ea typeface="Cambria" panose="02040503050406030204" pitchFamily="18" charset="0"/>
              </a:rPr>
              <a:t>Length Regularized TF (LRTF) : </a:t>
            </a:r>
          </a:p>
          <a:p>
            <a:pPr marL="0" indent="0">
              <a:buNone/>
            </a:pPr>
            <a:r>
              <a:rPr lang="en-US" dirty="0">
                <a:latin typeface="Cambria" panose="02040503050406030204" pitchFamily="18" charset="0"/>
                <a:ea typeface="Cambria" panose="02040503050406030204" pitchFamily="18" charset="0"/>
              </a:rPr>
              <a:t>This factor normalizes the term frequency by considering the </a:t>
            </a:r>
            <a:r>
              <a:rPr lang="en-US" b="1" dirty="0">
                <a:latin typeface="Cambria" panose="02040503050406030204" pitchFamily="18" charset="0"/>
                <a:ea typeface="Cambria" panose="02040503050406030204" pitchFamily="18" charset="0"/>
              </a:rPr>
              <a:t>number of terms present </a:t>
            </a:r>
            <a:r>
              <a:rPr lang="en-US" dirty="0">
                <a:latin typeface="Cambria" panose="02040503050406030204" pitchFamily="18" charset="0"/>
                <a:ea typeface="Cambria" panose="02040503050406030204" pitchFamily="18" charset="0"/>
              </a:rPr>
              <a:t>in a document. Thus, a reasonable starting point could be </a:t>
            </a:r>
            <a:r>
              <a:rPr lang="en-US" b="1" dirty="0">
                <a:latin typeface="Cambria" panose="02040503050406030204" pitchFamily="18" charset="0"/>
                <a:ea typeface="Cambria" panose="02040503050406030204" pitchFamily="18" charset="0"/>
              </a:rPr>
              <a:t>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ADL(C) /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a:t>
            </a:r>
            <a:r>
              <a:rPr lang="en-US" dirty="0">
                <a:latin typeface="Cambria" panose="02040503050406030204" pitchFamily="18" charset="0"/>
                <a:ea typeface="Cambria" panose="02040503050406030204" pitchFamily="18" charset="0"/>
              </a:rPr>
              <a:t> ,where ADL(C) is the average document length of the collection and </a:t>
            </a:r>
            <a:r>
              <a:rPr lang="en-US" dirty="0" err="1">
                <a:latin typeface="Cambria" panose="02040503050406030204" pitchFamily="18" charset="0"/>
                <a:ea typeface="Cambria" panose="02040503050406030204" pitchFamily="18" charset="0"/>
              </a:rPr>
              <a:t>len</a:t>
            </a:r>
            <a:r>
              <a:rPr lang="en-US" dirty="0">
                <a:latin typeface="Cambria" panose="02040503050406030204" pitchFamily="18" charset="0"/>
                <a:ea typeface="Cambria" panose="02040503050406030204" pitchFamily="18" charset="0"/>
              </a:rPr>
              <a:t>(D) is the length of the document D.</a:t>
            </a:r>
            <a:endParaRPr lang="en-IN"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7399894C-FD9B-D243-7ECC-8BB6BA2354B8}"/>
              </a:ext>
            </a:extLst>
          </p:cNvPr>
          <p:cNvPicPr>
            <a:picLocks noChangeAspect="1"/>
          </p:cNvPicPr>
          <p:nvPr/>
        </p:nvPicPr>
        <p:blipFill>
          <a:blip r:embed="rId3"/>
          <a:stretch>
            <a:fillRect/>
          </a:stretch>
        </p:blipFill>
        <p:spPr>
          <a:xfrm>
            <a:off x="3075868" y="1887151"/>
            <a:ext cx="5572903" cy="990738"/>
          </a:xfrm>
          <a:prstGeom prst="rect">
            <a:avLst/>
          </a:prstGeom>
        </p:spPr>
      </p:pic>
    </p:spTree>
    <p:extLst>
      <p:ext uri="{BB962C8B-B14F-4D97-AF65-F5344CB8AC3E}">
        <p14:creationId xmlns:p14="http://schemas.microsoft.com/office/powerpoint/2010/main" val="275098707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1E1E4C7-2564-EC03-9781-C3765E679F07}"/>
              </a:ext>
            </a:extLst>
          </p:cNvPr>
          <p:cNvSpPr txBox="1">
            <a:spLocks/>
          </p:cNvSpPr>
          <p:nvPr/>
        </p:nvSpPr>
        <p:spPr>
          <a:xfrm>
            <a:off x="1015999" y="1052267"/>
            <a:ext cx="9489441" cy="53383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But once again, it seems unlikely that the increase in term frequency follows a </a:t>
            </a:r>
            <a:r>
              <a:rPr lang="en-US" b="1" dirty="0">
                <a:latin typeface="Cambria" panose="02040503050406030204" pitchFamily="18" charset="0"/>
                <a:ea typeface="Cambria" panose="02040503050406030204" pitchFamily="18" charset="0"/>
              </a:rPr>
              <a:t>linear </a:t>
            </a:r>
            <a:r>
              <a:rPr lang="en-US" dirty="0">
                <a:latin typeface="Cambria" panose="02040503050406030204" pitchFamily="18" charset="0"/>
                <a:ea typeface="Cambria" panose="02040503050406030204" pitchFamily="18" charset="0"/>
              </a:rPr>
              <a:t>relationship with the document length, and thus the above formula </a:t>
            </a:r>
            <a:r>
              <a:rPr lang="en-US" b="1" dirty="0">
                <a:latin typeface="Cambria" panose="02040503050406030204" pitchFamily="18" charset="0"/>
                <a:ea typeface="Cambria" panose="02040503050406030204" pitchFamily="18" charset="0"/>
              </a:rPr>
              <a:t>over-penalizes the long documents</a:t>
            </a:r>
            <a:r>
              <a:rPr lang="en-US" dirty="0">
                <a:latin typeface="Cambria" panose="02040503050406030204" pitchFamily="18" charset="0"/>
                <a:ea typeface="Cambria" panose="02040503050406030204" pitchFamily="18" charset="0"/>
              </a:rPr>
              <a:t>. To overcome this bias, we employ the following function to achieve the length dependent normalization. It still punishes the long documents but with diminishing effect.</a:t>
            </a:r>
            <a:endParaRPr lang="en-IN" dirty="0">
              <a:latin typeface="Cambria" panose="02040503050406030204" pitchFamily="18" charset="0"/>
              <a:ea typeface="Cambria" panose="02040503050406030204" pitchFamily="18" charset="0"/>
            </a:endParaRPr>
          </a:p>
        </p:txBody>
      </p:sp>
      <p:pic>
        <p:nvPicPr>
          <p:cNvPr id="9" name="Picture 8">
            <a:extLst>
              <a:ext uri="{FF2B5EF4-FFF2-40B4-BE49-F238E27FC236}">
                <a16:creationId xmlns:a16="http://schemas.microsoft.com/office/drawing/2014/main" id="{79552997-91E0-226B-CD5B-D3FA91F731A7}"/>
              </a:ext>
            </a:extLst>
          </p:cNvPr>
          <p:cNvPicPr>
            <a:picLocks noChangeAspect="1"/>
          </p:cNvPicPr>
          <p:nvPr/>
        </p:nvPicPr>
        <p:blipFill>
          <a:blip r:embed="rId3"/>
          <a:stretch>
            <a:fillRect/>
          </a:stretch>
        </p:blipFill>
        <p:spPr>
          <a:xfrm>
            <a:off x="2372209" y="4210622"/>
            <a:ext cx="6716062" cy="895475"/>
          </a:xfrm>
          <a:prstGeom prst="rect">
            <a:avLst/>
          </a:prstGeom>
        </p:spPr>
      </p:pic>
      <p:sp>
        <p:nvSpPr>
          <p:cNvPr id="10" name="Title 4">
            <a:extLst>
              <a:ext uri="{FF2B5EF4-FFF2-40B4-BE49-F238E27FC236}">
                <a16:creationId xmlns:a16="http://schemas.microsoft.com/office/drawing/2014/main" id="{6AF0865A-55E6-11D5-0691-FA7ED4589AA0}"/>
              </a:ext>
            </a:extLst>
          </p:cNvPr>
          <p:cNvSpPr txBox="1">
            <a:spLocks/>
          </p:cNvSpPr>
          <p:nvPr/>
        </p:nvSpPr>
        <p:spPr>
          <a:xfrm>
            <a:off x="1158864" y="68826"/>
            <a:ext cx="9779183" cy="643030"/>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Two Aspects of TF</a:t>
            </a:r>
          </a:p>
        </p:txBody>
      </p:sp>
    </p:spTree>
    <p:extLst>
      <p:ext uri="{BB962C8B-B14F-4D97-AF65-F5344CB8AC3E}">
        <p14:creationId xmlns:p14="http://schemas.microsoft.com/office/powerpoint/2010/main" val="138131760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4">
            <a:extLst>
              <a:ext uri="{FF2B5EF4-FFF2-40B4-BE49-F238E27FC236}">
                <a16:creationId xmlns:a16="http://schemas.microsoft.com/office/drawing/2014/main" id="{D217EF69-65EB-5856-23A5-3F87B416DE5C}"/>
              </a:ext>
            </a:extLst>
          </p:cNvPr>
          <p:cNvSpPr txBox="1">
            <a:spLocks/>
          </p:cNvSpPr>
          <p:nvPr/>
        </p:nvSpPr>
        <p:spPr>
          <a:xfrm>
            <a:off x="2936240" y="1383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Motivation to use of two TF factors</a:t>
            </a:r>
          </a:p>
        </p:txBody>
      </p:sp>
      <p:sp>
        <p:nvSpPr>
          <p:cNvPr id="13" name="Content Placeholder 5">
            <a:extLst>
              <a:ext uri="{FF2B5EF4-FFF2-40B4-BE49-F238E27FC236}">
                <a16:creationId xmlns:a16="http://schemas.microsoft.com/office/drawing/2014/main" id="{A69A38F6-F1DD-D837-B42A-B722345A0CD7}"/>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Let D1 and D2 be two documents of equal lengths, with the following statistics.</a:t>
            </a:r>
          </a:p>
          <a:p>
            <a:pPr marL="0" indent="0">
              <a:buNone/>
            </a:pPr>
            <a:r>
              <a:rPr lang="en-US" b="1" dirty="0">
                <a:latin typeface="Cambria" panose="02040503050406030204" pitchFamily="18" charset="0"/>
                <a:ea typeface="Cambria" panose="02040503050406030204" pitchFamily="18" charset="0"/>
              </a:rPr>
              <a:t>1.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(D1) = 20, #distinct term of D1 =5, TF(t,D1)=4</a:t>
            </a:r>
          </a:p>
          <a:p>
            <a:pPr marL="0" indent="0">
              <a:buNone/>
            </a:pPr>
            <a:r>
              <a:rPr lang="en-US" b="1" dirty="0">
                <a:latin typeface="Cambria" panose="02040503050406030204" pitchFamily="18" charset="0"/>
                <a:ea typeface="Cambria" panose="02040503050406030204" pitchFamily="18" charset="0"/>
              </a:rPr>
              <a:t>2.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(D2) = 20, #distinct term of D2 = 15, TF(t,D2)=4</a:t>
            </a:r>
          </a:p>
          <a:p>
            <a:pPr marL="0" indent="0">
              <a:buNone/>
            </a:pPr>
            <a:endParaRPr lang="en-US" b="1"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In both of the cases, LRTF considers t equally important which is not appropriate, since the focus of the document D1 seems to be divided equally among 5 terms and therefore t should not be considered salient, while t seems to be important for D2.Thus, in the later case </a:t>
            </a:r>
            <a:r>
              <a:rPr lang="en-US" b="1" dirty="0">
                <a:latin typeface="Cambria" panose="02040503050406030204" pitchFamily="18" charset="0"/>
                <a:ea typeface="Cambria" panose="02040503050406030204" pitchFamily="18" charset="0"/>
              </a:rPr>
              <a:t>RITF seems to be a better choice to LRTF</a:t>
            </a: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5973819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EFC2B8B6-FD4D-F7AB-9BAA-C3093DA107D6}"/>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Motivation to use of two TF factors</a:t>
            </a:r>
          </a:p>
        </p:txBody>
      </p:sp>
      <p:sp>
        <p:nvSpPr>
          <p:cNvPr id="8" name="Content Placeholder 5">
            <a:extLst>
              <a:ext uri="{FF2B5EF4-FFF2-40B4-BE49-F238E27FC236}">
                <a16:creationId xmlns:a16="http://schemas.microsoft.com/office/drawing/2014/main" id="{02503975-FCF5-E5EC-454C-13874EEA7302}"/>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Let D1 and D2 be two documents with the following statistics.</a:t>
            </a:r>
          </a:p>
          <a:p>
            <a:pPr marL="0" indent="0">
              <a:buNone/>
            </a:pPr>
            <a:r>
              <a:rPr lang="en-US" b="1" dirty="0">
                <a:latin typeface="Cambria" panose="02040503050406030204" pitchFamily="18" charset="0"/>
                <a:ea typeface="Cambria" panose="02040503050406030204" pitchFamily="18" charset="0"/>
              </a:rPr>
              <a:t>1.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(D1) = 20, #distinct </a:t>
            </a:r>
            <a:r>
              <a:rPr lang="en-US" b="1" dirty="0" err="1">
                <a:latin typeface="Cambria" panose="02040503050406030204" pitchFamily="18" charset="0"/>
                <a:ea typeface="Cambria" panose="02040503050406030204" pitchFamily="18" charset="0"/>
              </a:rPr>
              <a:t>termof</a:t>
            </a:r>
            <a:r>
              <a:rPr lang="en-US" b="1" dirty="0">
                <a:latin typeface="Cambria" panose="02040503050406030204" pitchFamily="18" charset="0"/>
                <a:ea typeface="Cambria" panose="02040503050406030204" pitchFamily="18" charset="0"/>
              </a:rPr>
              <a:t> D1 = 15, TF(t,D1)=4</a:t>
            </a:r>
          </a:p>
          <a:p>
            <a:pPr marL="0" indent="0">
              <a:buNone/>
            </a:pPr>
            <a:r>
              <a:rPr lang="en-US" b="1" dirty="0">
                <a:latin typeface="Cambria" panose="02040503050406030204" pitchFamily="18" charset="0"/>
                <a:ea typeface="Cambria" panose="02040503050406030204" pitchFamily="18" charset="0"/>
              </a:rPr>
              <a:t>2.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(D2) = 200, # distinct term of D2 = 150, TF(t,D2)=4</a:t>
            </a:r>
          </a:p>
          <a:p>
            <a:pPr marL="0" indent="0">
              <a:buNone/>
            </a:pPr>
            <a:r>
              <a:rPr lang="en-US" dirty="0">
                <a:latin typeface="Cambria" panose="02040503050406030204" pitchFamily="18" charset="0"/>
                <a:ea typeface="Cambria" panose="02040503050406030204" pitchFamily="18" charset="0"/>
              </a:rPr>
              <a:t>For this instance however, RITF considers the term t equally important for both D1 and D2, which is not right, since D2 contains more distinct terms and thus seems to </a:t>
            </a:r>
            <a:r>
              <a:rPr lang="en-US" b="1" dirty="0">
                <a:latin typeface="Cambria" panose="02040503050406030204" pitchFamily="18" charset="0"/>
                <a:ea typeface="Cambria" panose="02040503050406030204" pitchFamily="18" charset="0"/>
              </a:rPr>
              <a:t>cover many other topics</a:t>
            </a:r>
            <a:r>
              <a:rPr lang="en-US" dirty="0">
                <a:latin typeface="Cambria" panose="02040503050406030204" pitchFamily="18" charset="0"/>
                <a:ea typeface="Cambria" panose="02040503050406030204" pitchFamily="18" charset="0"/>
              </a:rPr>
              <a:t> (also possibly uses t repeatedly). Therefore, in later case, the </a:t>
            </a:r>
            <a:r>
              <a:rPr lang="en-US" b="1" dirty="0">
                <a:latin typeface="Cambria" panose="02040503050406030204" pitchFamily="18" charset="0"/>
                <a:ea typeface="Cambria" panose="02040503050406030204" pitchFamily="18" charset="0"/>
              </a:rPr>
              <a:t>use of LRTF seems to be a potential choice over RITF</a:t>
            </a:r>
            <a:r>
              <a:rPr lang="en-US" dirty="0">
                <a:latin typeface="Cambria" panose="02040503050406030204" pitchFamily="18" charset="0"/>
                <a:ea typeface="Cambria" panose="02040503050406030204" pitchFamily="18" charset="0"/>
              </a:rPr>
              <a:t>. Our main goal now is to </a:t>
            </a:r>
            <a:r>
              <a:rPr lang="en-US" b="1" dirty="0">
                <a:latin typeface="Cambria" panose="02040503050406030204" pitchFamily="18" charset="0"/>
                <a:ea typeface="Cambria" panose="02040503050406030204" pitchFamily="18" charset="0"/>
              </a:rPr>
              <a:t>integrate</a:t>
            </a:r>
            <a:r>
              <a:rPr lang="en-US" dirty="0">
                <a:latin typeface="Cambria" panose="02040503050406030204" pitchFamily="18" charset="0"/>
                <a:ea typeface="Cambria" panose="02040503050406030204" pitchFamily="18" charset="0"/>
              </a:rPr>
              <a:t> the above two factors into our weighting scheme. However, we do not use the TF factors as defined earlier. We transform these TF values for our final use that in some sense makes use of the </a:t>
            </a:r>
            <a:r>
              <a:rPr lang="en-US" b="1" dirty="0">
                <a:latin typeface="Cambria" panose="02040503050406030204" pitchFamily="18" charset="0"/>
                <a:ea typeface="Cambria" panose="02040503050406030204" pitchFamily="18" charset="0"/>
              </a:rPr>
              <a:t>hypothesis AD-TFH</a:t>
            </a: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0067120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0B4DECC0-CD55-B2A3-A268-FF131EC376F7}"/>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Transforming TF Factors</a:t>
            </a:r>
          </a:p>
        </p:txBody>
      </p:sp>
      <p:sp>
        <p:nvSpPr>
          <p:cNvPr id="3" name="Content Placeholder 5">
            <a:extLst>
              <a:ext uri="{FF2B5EF4-FFF2-40B4-BE49-F238E27FC236}">
                <a16:creationId xmlns:a16="http://schemas.microsoft.com/office/drawing/2014/main" id="{C48AED82-4A1E-A713-A232-9E4893B64714}"/>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A good weighting function, while emphasizing on term frequencies and term discrimination factors, should also pay attention to the </a:t>
            </a:r>
            <a:r>
              <a:rPr lang="en-US" b="1" dirty="0">
                <a:latin typeface="Cambria" panose="02040503050406030204" pitchFamily="18" charset="0"/>
                <a:ea typeface="Cambria" panose="02040503050406030204" pitchFamily="18" charset="0"/>
              </a:rPr>
              <a:t>term coverage issue </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e number of match). For example, if a document </a:t>
            </a:r>
            <a:r>
              <a:rPr lang="en-US" b="1" dirty="0">
                <a:latin typeface="Cambria" panose="02040503050406030204" pitchFamily="18" charset="0"/>
                <a:ea typeface="Cambria" panose="02040503050406030204" pitchFamily="18" charset="0"/>
              </a:rPr>
              <a:t>D1 contains a query term 10 times </a:t>
            </a:r>
            <a:r>
              <a:rPr lang="en-US" dirty="0">
                <a:latin typeface="Cambria" panose="02040503050406030204" pitchFamily="18" charset="0"/>
                <a:ea typeface="Cambria" panose="02040503050406030204" pitchFamily="18" charset="0"/>
              </a:rPr>
              <a:t>and another document </a:t>
            </a:r>
            <a:r>
              <a:rPr lang="en-US" b="1" dirty="0">
                <a:latin typeface="Cambria" panose="02040503050406030204" pitchFamily="18" charset="0"/>
                <a:ea typeface="Cambria" panose="02040503050406030204" pitchFamily="18" charset="0"/>
              </a:rPr>
              <a:t>D2 contains two query terms (of the same query) 5 times </a:t>
            </a:r>
            <a:r>
              <a:rPr lang="en-US" dirty="0">
                <a:latin typeface="Cambria" panose="02040503050406030204" pitchFamily="18" charset="0"/>
                <a:ea typeface="Cambria" panose="02040503050406030204" pitchFamily="18" charset="0"/>
              </a:rPr>
              <a:t>each, then the assigned score should be </a:t>
            </a:r>
            <a:r>
              <a:rPr lang="en-US" b="1" dirty="0">
                <a:latin typeface="Cambria" panose="02040503050406030204" pitchFamily="18" charset="0"/>
                <a:ea typeface="Cambria" panose="02040503050406030204" pitchFamily="18" charset="0"/>
              </a:rPr>
              <a:t>higher for D2 </a:t>
            </a:r>
            <a:r>
              <a:rPr lang="en-US" dirty="0">
                <a:latin typeface="Cambria" panose="02040503050406030204" pitchFamily="18" charset="0"/>
                <a:ea typeface="Cambria" panose="02040503050406030204" pitchFamily="18" charset="0"/>
              </a:rPr>
              <a:t>(assuming that both the query terms have equal term discrimination values). </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421548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DBC97D88-278B-724D-DEC8-AF7ADA984951}"/>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Transforming TF Factors</a:t>
            </a:r>
          </a:p>
        </p:txBody>
      </p:sp>
      <p:sp>
        <p:nvSpPr>
          <p:cNvPr id="3" name="Content Placeholder 5">
            <a:extLst>
              <a:ext uri="{FF2B5EF4-FFF2-40B4-BE49-F238E27FC236}">
                <a16:creationId xmlns:a16="http://schemas.microsoft.com/office/drawing/2014/main" id="{57823189-FDB0-5154-4200-E523ED985F52}"/>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Second, another common trait of many weighting schemes is that they use the TF functions that are </a:t>
            </a:r>
            <a:r>
              <a:rPr lang="en-US" b="1" dirty="0">
                <a:latin typeface="Cambria" panose="02040503050406030204" pitchFamily="18" charset="0"/>
                <a:ea typeface="Cambria" panose="02040503050406030204" pitchFamily="18" charset="0"/>
              </a:rPr>
              <a:t>not bounded above</a:t>
            </a:r>
            <a:r>
              <a:rPr lang="en-US" dirty="0">
                <a:latin typeface="Cambria" panose="02040503050406030204" pitchFamily="18" charset="0"/>
                <a:ea typeface="Cambria" panose="02040503050406030204" pitchFamily="18" charset="0"/>
              </a:rPr>
              <a:t>. We transform the TF factors using a function f(x) that possesses the following properties: </a:t>
            </a:r>
          </a:p>
          <a:p>
            <a:pPr marL="0" indent="0">
              <a:buNone/>
            </a:pP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i</a:t>
            </a:r>
            <a:r>
              <a:rPr lang="en-US" dirty="0">
                <a:latin typeface="Cambria" panose="02040503050406030204" pitchFamily="18" charset="0"/>
                <a:ea typeface="Cambria" panose="02040503050406030204" pitchFamily="18" charset="0"/>
              </a:rPr>
              <a:t>) vanishes at 0, (ii) satisfies the two conditions of AD-TFH hypothesis (</a:t>
            </a:r>
            <a:r>
              <a:rPr lang="en-US" b="1" dirty="0">
                <a:latin typeface="Cambria" panose="02040503050406030204" pitchFamily="18" charset="0"/>
                <a:ea typeface="Cambria" panose="02040503050406030204" pitchFamily="18" charset="0"/>
              </a:rPr>
              <a:t>f’(x) &gt; 0and f’’(x) &lt; 0</a:t>
            </a:r>
            <a:r>
              <a:rPr lang="en-US" dirty="0">
                <a:latin typeface="Cambria" panose="02040503050406030204" pitchFamily="18" charset="0"/>
                <a:ea typeface="Cambria" panose="02040503050406030204" pitchFamily="18" charset="0"/>
              </a:rPr>
              <a:t>), and (iii) asymptotically upper bounded to 1. </a:t>
            </a:r>
          </a:p>
          <a:p>
            <a:pPr marL="0" indent="0">
              <a:buNone/>
            </a:pPr>
            <a:r>
              <a:rPr lang="en-US" dirty="0">
                <a:latin typeface="Cambria" panose="02040503050406030204" pitchFamily="18" charset="0"/>
                <a:ea typeface="Cambria" panose="02040503050406030204" pitchFamily="18" charset="0"/>
              </a:rPr>
              <a:t>One of the simplest functions that satisfies the above properties is </a:t>
            </a:r>
            <a:r>
              <a:rPr lang="en-US" b="1" dirty="0">
                <a:latin typeface="Cambria" panose="02040503050406030204" pitchFamily="18" charset="0"/>
                <a:ea typeface="Cambria" panose="02040503050406030204" pitchFamily="18" charset="0"/>
              </a:rPr>
              <a:t>f(x)= x / 1+x </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02490444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4A02BD68-0235-281F-83AA-48354931309A}"/>
              </a:ext>
            </a:extLst>
          </p:cNvPr>
          <p:cNvSpPr txBox="1">
            <a:spLocks/>
          </p:cNvSpPr>
          <p:nvPr/>
        </p:nvSpPr>
        <p:spPr>
          <a:xfrm>
            <a:off x="5140960"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Transforming TF Factors</a:t>
            </a:r>
          </a:p>
        </p:txBody>
      </p:sp>
      <p:sp>
        <p:nvSpPr>
          <p:cNvPr id="3" name="Content Placeholder 5">
            <a:extLst>
              <a:ext uri="{FF2B5EF4-FFF2-40B4-BE49-F238E27FC236}">
                <a16:creationId xmlns:a16="http://schemas.microsoft.com/office/drawing/2014/main" id="{6677BF79-9F21-C165-6F78-75A419B05BB2}"/>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Using this function, we now transform the two TF factors as follows:</a:t>
            </a:r>
          </a:p>
        </p:txBody>
      </p:sp>
      <p:pic>
        <p:nvPicPr>
          <p:cNvPr id="5" name="Picture 4">
            <a:extLst>
              <a:ext uri="{FF2B5EF4-FFF2-40B4-BE49-F238E27FC236}">
                <a16:creationId xmlns:a16="http://schemas.microsoft.com/office/drawing/2014/main" id="{5312FF76-5C36-92DF-80B5-DB9B31288755}"/>
              </a:ext>
            </a:extLst>
          </p:cNvPr>
          <p:cNvPicPr>
            <a:picLocks noChangeAspect="1"/>
          </p:cNvPicPr>
          <p:nvPr/>
        </p:nvPicPr>
        <p:blipFill>
          <a:blip r:embed="rId3"/>
          <a:stretch>
            <a:fillRect/>
          </a:stretch>
        </p:blipFill>
        <p:spPr>
          <a:xfrm>
            <a:off x="3695365" y="1809524"/>
            <a:ext cx="4801270" cy="1619476"/>
          </a:xfrm>
          <a:prstGeom prst="rect">
            <a:avLst/>
          </a:prstGeom>
        </p:spPr>
      </p:pic>
    </p:spTree>
    <p:extLst>
      <p:ext uri="{BB962C8B-B14F-4D97-AF65-F5344CB8AC3E}">
        <p14:creationId xmlns:p14="http://schemas.microsoft.com/office/powerpoint/2010/main" val="132143937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C4C44DDE-C202-DD0B-A594-AB239554D72C}"/>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Combining Two TF Factors</a:t>
            </a:r>
          </a:p>
        </p:txBody>
      </p:sp>
      <p:sp>
        <p:nvSpPr>
          <p:cNvPr id="3" name="Content Placeholder 5">
            <a:extLst>
              <a:ext uri="{FF2B5EF4-FFF2-40B4-BE49-F238E27FC236}">
                <a16:creationId xmlns:a16="http://schemas.microsoft.com/office/drawing/2014/main" id="{1C3F4349-0CB0-0D2B-F261-D5EF30112A72}"/>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Now the key question that we face: how should we combine BRITF(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and BLRTF(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A natural way to do this is as follows:</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where 0 &lt;w &lt; 1. The next important issues are that - Should we prefer </a:t>
            </a:r>
            <a:r>
              <a:rPr lang="en-US" b="1" dirty="0">
                <a:latin typeface="Cambria" panose="02040503050406030204" pitchFamily="18" charset="0"/>
                <a:ea typeface="Cambria" panose="02040503050406030204" pitchFamily="18" charset="0"/>
              </a:rPr>
              <a:t>BRITF(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)(w&gt; 0.5) or BLRTF(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)(w&lt; 0.5).</a:t>
            </a:r>
          </a:p>
          <a:p>
            <a:pPr marL="0" indent="0">
              <a:buNone/>
            </a:pPr>
            <a:r>
              <a:rPr lang="en-US" dirty="0">
                <a:latin typeface="Cambria" panose="02040503050406030204" pitchFamily="18" charset="0"/>
                <a:ea typeface="Cambria" panose="02040503050406030204" pitchFamily="18" charset="0"/>
              </a:rPr>
              <a:t>In order to answer these questions, we now analyze the properties of the two TF components. It is clear that </a:t>
            </a:r>
            <a:r>
              <a:rPr lang="en-US" b="1" dirty="0">
                <a:latin typeface="Cambria" panose="02040503050406030204" pitchFamily="18" charset="0"/>
                <a:ea typeface="Cambria" panose="02040503050406030204" pitchFamily="18" charset="0"/>
              </a:rPr>
              <a:t>BRITF(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has a tendency to prefer long documents</a:t>
            </a:r>
            <a:r>
              <a:rPr lang="en-US" dirty="0">
                <a:latin typeface="Cambria" panose="02040503050406030204" pitchFamily="18" charset="0"/>
                <a:ea typeface="Cambria" panose="02040503050406030204" pitchFamily="18" charset="0"/>
              </a:rPr>
              <a:t>, since for long documents the denominator part of RITF(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is </a:t>
            </a:r>
            <a:r>
              <a:rPr lang="en-US" b="1" dirty="0">
                <a:latin typeface="Cambria" panose="02040503050406030204" pitchFamily="18" charset="0"/>
                <a:ea typeface="Cambria" panose="02040503050406030204" pitchFamily="18" charset="0"/>
              </a:rPr>
              <a:t>close to 1</a:t>
            </a:r>
            <a:r>
              <a:rPr lang="en-US" dirty="0">
                <a:latin typeface="Cambria" panose="02040503050406030204" pitchFamily="18" charset="0"/>
                <a:ea typeface="Cambria" panose="02040503050406030204" pitchFamily="18" charset="0"/>
              </a:rPr>
              <a:t>, and TF is usually larger. On the other hand, </a:t>
            </a:r>
            <a:r>
              <a:rPr lang="en-US" b="1" dirty="0">
                <a:latin typeface="Cambria" panose="02040503050406030204" pitchFamily="18" charset="0"/>
                <a:ea typeface="Cambria" panose="02040503050406030204" pitchFamily="18" charset="0"/>
              </a:rPr>
              <a:t>BLRTF(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tends to prefer short documents</a:t>
            </a:r>
            <a:r>
              <a:rPr lang="en-US" dirty="0">
                <a:latin typeface="Cambria" panose="02040503050406030204" pitchFamily="18" charset="0"/>
                <a:ea typeface="Cambria" panose="02040503050406030204" pitchFamily="18" charset="0"/>
              </a:rPr>
              <a:t>, since </a:t>
            </a:r>
            <a:r>
              <a:rPr lang="en-US" b="1" dirty="0">
                <a:latin typeface="Cambria" panose="02040503050406030204" pitchFamily="18" charset="0"/>
                <a:ea typeface="Cambria" panose="02040503050406030204" pitchFamily="18" charset="0"/>
              </a:rPr>
              <a:t>LRTF(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 0 as </a:t>
            </a:r>
            <a:r>
              <a:rPr lang="en-US" b="1" dirty="0" err="1">
                <a:latin typeface="Cambria" panose="02040503050406030204" pitchFamily="18" charset="0"/>
                <a:ea typeface="Cambria" panose="02040503050406030204" pitchFamily="18" charset="0"/>
              </a:rPr>
              <a:t>len</a:t>
            </a:r>
            <a:r>
              <a:rPr lang="en-US" b="1" dirty="0">
                <a:latin typeface="Cambria" panose="02040503050406030204" pitchFamily="18" charset="0"/>
                <a:ea typeface="Cambria" panose="02040503050406030204" pitchFamily="18" charset="0"/>
              </a:rPr>
              <a:t>(D) →∞</a:t>
            </a:r>
            <a:r>
              <a:rPr lang="en-US" dirty="0">
                <a:latin typeface="Cambria" panose="02040503050406030204" pitchFamily="18" charset="0"/>
                <a:ea typeface="Cambria" panose="02040503050406030204" pitchFamily="18" charset="0"/>
              </a:rPr>
              <a:t>.</a:t>
            </a:r>
          </a:p>
        </p:txBody>
      </p:sp>
      <p:pic>
        <p:nvPicPr>
          <p:cNvPr id="5" name="Picture 4">
            <a:extLst>
              <a:ext uri="{FF2B5EF4-FFF2-40B4-BE49-F238E27FC236}">
                <a16:creationId xmlns:a16="http://schemas.microsoft.com/office/drawing/2014/main" id="{6FD024EB-58FF-9721-36D2-0E99BA9AE887}"/>
              </a:ext>
            </a:extLst>
          </p:cNvPr>
          <p:cNvPicPr>
            <a:picLocks noChangeAspect="1"/>
          </p:cNvPicPr>
          <p:nvPr/>
        </p:nvPicPr>
        <p:blipFill>
          <a:blip r:embed="rId3"/>
          <a:stretch>
            <a:fillRect/>
          </a:stretch>
        </p:blipFill>
        <p:spPr>
          <a:xfrm>
            <a:off x="2275942" y="1971642"/>
            <a:ext cx="7640116" cy="476316"/>
          </a:xfrm>
          <a:prstGeom prst="rect">
            <a:avLst/>
          </a:prstGeom>
        </p:spPr>
      </p:pic>
    </p:spTree>
    <p:extLst>
      <p:ext uri="{BB962C8B-B14F-4D97-AF65-F5344CB8AC3E}">
        <p14:creationId xmlns:p14="http://schemas.microsoft.com/office/powerpoint/2010/main" val="409658068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45EEDDB7-A3D2-00BA-DC6A-7C4B87645745}"/>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Combining Two TF Factors</a:t>
            </a:r>
          </a:p>
        </p:txBody>
      </p:sp>
      <p:sp>
        <p:nvSpPr>
          <p:cNvPr id="3" name="Content Placeholder 5">
            <a:extLst>
              <a:ext uri="{FF2B5EF4-FFF2-40B4-BE49-F238E27FC236}">
                <a16:creationId xmlns:a16="http://schemas.microsoft.com/office/drawing/2014/main" id="{3D167368-A6B7-7011-B351-6593087AAECC}"/>
              </a:ext>
            </a:extLst>
          </p:cNvPr>
          <p:cNvSpPr txBox="1">
            <a:spLocks/>
          </p:cNvSpPr>
          <p:nvPr/>
        </p:nvSpPr>
        <p:spPr>
          <a:xfrm>
            <a:off x="885846" y="112371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Therefore, when a query is long, </a:t>
            </a:r>
            <a:r>
              <a:rPr lang="en-US" b="1" dirty="0">
                <a:latin typeface="Cambria" panose="02040503050406030204" pitchFamily="18" charset="0"/>
                <a:ea typeface="Cambria" panose="02040503050406030204" pitchFamily="18" charset="0"/>
              </a:rPr>
              <a:t>BRITF(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heavily prefers extremely long documents</a:t>
            </a:r>
            <a:r>
              <a:rPr lang="en-US" dirty="0">
                <a:latin typeface="Cambria" panose="02040503050406030204" pitchFamily="18" charset="0"/>
                <a:ea typeface="Cambria" panose="02040503050406030204" pitchFamily="18" charset="0"/>
              </a:rPr>
              <a:t>, since the number of matches is more or less proportional to the length of the document. On the contrary, since </a:t>
            </a:r>
            <a:r>
              <a:rPr lang="en-US" b="1" dirty="0">
                <a:latin typeface="Cambria" panose="02040503050406030204" pitchFamily="18" charset="0"/>
                <a:ea typeface="Cambria" panose="02040503050406030204" pitchFamily="18" charset="0"/>
              </a:rPr>
              <a:t>BLRTF(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prefers short documents </a:t>
            </a:r>
            <a:r>
              <a:rPr lang="en-US" dirty="0">
                <a:latin typeface="Cambria" panose="02040503050406030204" pitchFamily="18" charset="0"/>
                <a:ea typeface="Cambria" panose="02040503050406030204" pitchFamily="18" charset="0"/>
              </a:rPr>
              <a:t>it can penalize extremely long documents when it faces longer queries, and thus it is preferable when longer queries are encountered. Another interesting property of BRITF(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is that it emphasizes on the </a:t>
            </a:r>
            <a:r>
              <a:rPr lang="en-US" b="1" dirty="0">
                <a:latin typeface="Cambria" panose="02040503050406030204" pitchFamily="18" charset="0"/>
                <a:ea typeface="Cambria" panose="02040503050406030204" pitchFamily="18" charset="0"/>
              </a:rPr>
              <a:t>number of matches</a:t>
            </a:r>
            <a:r>
              <a:rPr lang="en-US" dirty="0">
                <a:latin typeface="Cambria" panose="02040503050406030204" pitchFamily="18" charset="0"/>
                <a:ea typeface="Cambria" panose="02040503050406030204" pitchFamily="18" charset="0"/>
              </a:rPr>
              <a:t>, since the main component of this formula RITF(</a:t>
            </a:r>
            <a:r>
              <a:rPr lang="en-US" dirty="0" err="1">
                <a:latin typeface="Cambria" panose="02040503050406030204" pitchFamily="18" charset="0"/>
                <a:ea typeface="Cambria" panose="02040503050406030204" pitchFamily="18" charset="0"/>
              </a:rPr>
              <a:t>t,D</a:t>
            </a:r>
            <a:r>
              <a:rPr lang="en-US" dirty="0">
                <a:latin typeface="Cambria" panose="02040503050406030204" pitchFamily="18" charset="0"/>
                <a:ea typeface="Cambria" panose="02040503050406030204" pitchFamily="18" charset="0"/>
              </a:rPr>
              <a:t>) heavily punishes the term frequency, and thus important for the short queries. Hence, for </a:t>
            </a:r>
            <a:r>
              <a:rPr lang="en-US" b="1" dirty="0">
                <a:latin typeface="Cambria" panose="02040503050406030204" pitchFamily="18" charset="0"/>
                <a:ea typeface="Cambria" panose="02040503050406030204" pitchFamily="18" charset="0"/>
              </a:rPr>
              <a:t>short queries BRITF(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should be preferred, while for </a:t>
            </a:r>
            <a:r>
              <a:rPr lang="en-US" b="1" dirty="0">
                <a:latin typeface="Cambria" panose="02040503050406030204" pitchFamily="18" charset="0"/>
                <a:ea typeface="Cambria" panose="02040503050406030204" pitchFamily="18" charset="0"/>
              </a:rPr>
              <a:t>longer queries, BLRTF(</a:t>
            </a:r>
            <a:r>
              <a:rPr lang="en-US" b="1" dirty="0" err="1">
                <a:latin typeface="Cambria" panose="02040503050406030204" pitchFamily="18" charset="0"/>
                <a:ea typeface="Cambria" panose="02040503050406030204" pitchFamily="18" charset="0"/>
              </a:rPr>
              <a:t>t,D</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should be given more weight.</a:t>
            </a:r>
          </a:p>
        </p:txBody>
      </p:sp>
    </p:spTree>
    <p:extLst>
      <p:ext uri="{BB962C8B-B14F-4D97-AF65-F5344CB8AC3E}">
        <p14:creationId xmlns:p14="http://schemas.microsoft.com/office/powerpoint/2010/main" val="317127719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7E6C81A-4073-A092-5340-1FD22498F306}"/>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Combining Two TF Factors</a:t>
            </a:r>
          </a:p>
        </p:txBody>
      </p:sp>
      <p:sp>
        <p:nvSpPr>
          <p:cNvPr id="3" name="Content Placeholder 5">
            <a:extLst>
              <a:ext uri="{FF2B5EF4-FFF2-40B4-BE49-F238E27FC236}">
                <a16:creationId xmlns:a16="http://schemas.microsoft.com/office/drawing/2014/main" id="{149F1A52-BEDE-2C39-85A1-AD667FDAB7EB}"/>
              </a:ext>
            </a:extLst>
          </p:cNvPr>
          <p:cNvSpPr txBox="1">
            <a:spLocks/>
          </p:cNvSpPr>
          <p:nvPr/>
        </p:nvSpPr>
        <p:spPr>
          <a:xfrm>
            <a:off x="788362" y="85955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we now turn to incorporate the </a:t>
            </a:r>
            <a:r>
              <a:rPr lang="en-US" b="1" dirty="0">
                <a:latin typeface="Cambria" panose="02040503050406030204" pitchFamily="18" charset="0"/>
                <a:ea typeface="Cambria" panose="02040503050406030204" pitchFamily="18" charset="0"/>
              </a:rPr>
              <a:t>query length information</a:t>
            </a:r>
            <a:r>
              <a:rPr lang="en-US" dirty="0">
                <a:latin typeface="Cambria" panose="02040503050406030204" pitchFamily="18" charset="0"/>
                <a:ea typeface="Cambria" panose="02040503050406030204" pitchFamily="18" charset="0"/>
              </a:rPr>
              <a:t> into our weighting formula. The value of </a:t>
            </a:r>
            <a:r>
              <a:rPr lang="en-US" b="1" dirty="0">
                <a:latin typeface="Cambria" panose="02040503050406030204" pitchFamily="18" charset="0"/>
                <a:ea typeface="Cambria" panose="02040503050406030204" pitchFamily="18" charset="0"/>
              </a:rPr>
              <a:t>w should decrease with the increase in query length</a:t>
            </a:r>
            <a:r>
              <a:rPr lang="en-US" dirty="0">
                <a:latin typeface="Cambria" panose="02040503050406030204" pitchFamily="18" charset="0"/>
                <a:ea typeface="Cambria" panose="02040503050406030204" pitchFamily="18" charset="0"/>
              </a:rPr>
              <a:t>, while it must lie between </a:t>
            </a:r>
            <a:r>
              <a:rPr lang="en-US" b="1" dirty="0">
                <a:latin typeface="Cambria" panose="02040503050406030204" pitchFamily="18" charset="0"/>
                <a:ea typeface="Cambria" panose="02040503050406030204" pitchFamily="18" charset="0"/>
              </a:rPr>
              <a:t>[0-1]. </a:t>
            </a:r>
            <a:r>
              <a:rPr lang="en-US" dirty="0">
                <a:latin typeface="Cambria" panose="02040503050406030204" pitchFamily="18" charset="0"/>
                <a:ea typeface="Cambria" panose="02040503050406030204" pitchFamily="18" charset="0"/>
              </a:rPr>
              <a:t>Specifically, we characterize the query length factor QLF(Q) by the following variables. </a:t>
            </a:r>
            <a:r>
              <a:rPr lang="en-US" b="1" dirty="0">
                <a:latin typeface="Cambria" panose="02040503050406030204" pitchFamily="18" charset="0"/>
                <a:ea typeface="Cambria" panose="02040503050406030204" pitchFamily="18" charset="0"/>
              </a:rPr>
              <a:t>(</a:t>
            </a:r>
            <a:r>
              <a:rPr lang="en-US" b="1" dirty="0" err="1">
                <a:latin typeface="Cambria" panose="02040503050406030204" pitchFamily="18" charset="0"/>
                <a:ea typeface="Cambria" panose="02040503050406030204" pitchFamily="18" charset="0"/>
              </a:rPr>
              <a:t>i</a:t>
            </a:r>
            <a:r>
              <a:rPr lang="en-US" b="1" dirty="0">
                <a:latin typeface="Cambria" panose="02040503050406030204" pitchFamily="18" charset="0"/>
                <a:ea typeface="Cambria" panose="02040503050406030204" pitchFamily="18" charset="0"/>
              </a:rPr>
              <a:t>) QLF(Q)=1 for |Q| = 1, (ii) QLF’(Q) &lt; 0 and </a:t>
            </a:r>
          </a:p>
          <a:p>
            <a:pPr marL="0" indent="0">
              <a:buNone/>
            </a:pPr>
            <a:r>
              <a:rPr lang="en-US" b="1" dirty="0">
                <a:latin typeface="Cambria" panose="02040503050406030204" pitchFamily="18" charset="0"/>
                <a:ea typeface="Cambria" panose="02040503050406030204" pitchFamily="18" charset="0"/>
              </a:rPr>
              <a:t>(iii) 0 &lt; QLF(Q) &lt; 1.</a:t>
            </a:r>
            <a:r>
              <a:rPr lang="en-US" dirty="0">
                <a:latin typeface="Cambria" panose="02040503050406030204" pitchFamily="18" charset="0"/>
                <a:ea typeface="Cambria" panose="02040503050406030204" pitchFamily="18" charset="0"/>
              </a:rPr>
              <a:t> Numerous different functions can be constructed that satisfy the above conditions. We used the following three different functions.</a:t>
            </a:r>
          </a:p>
        </p:txBody>
      </p:sp>
      <p:pic>
        <p:nvPicPr>
          <p:cNvPr id="5" name="Picture 4">
            <a:extLst>
              <a:ext uri="{FF2B5EF4-FFF2-40B4-BE49-F238E27FC236}">
                <a16:creationId xmlns:a16="http://schemas.microsoft.com/office/drawing/2014/main" id="{72CC2634-8DC9-2593-80EF-5123E3D7AD54}"/>
              </a:ext>
            </a:extLst>
          </p:cNvPr>
          <p:cNvPicPr>
            <a:picLocks noChangeAspect="1"/>
          </p:cNvPicPr>
          <p:nvPr/>
        </p:nvPicPr>
        <p:blipFill>
          <a:blip r:embed="rId3"/>
          <a:stretch>
            <a:fillRect/>
          </a:stretch>
        </p:blipFill>
        <p:spPr>
          <a:xfrm>
            <a:off x="3423305" y="4118136"/>
            <a:ext cx="4258269" cy="2238687"/>
          </a:xfrm>
          <a:prstGeom prst="rect">
            <a:avLst/>
          </a:prstGeom>
        </p:spPr>
      </p:pic>
    </p:spTree>
    <p:extLst>
      <p:ext uri="{BB962C8B-B14F-4D97-AF65-F5344CB8AC3E}">
        <p14:creationId xmlns:p14="http://schemas.microsoft.com/office/powerpoint/2010/main" val="62713247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6D88855D-DFE2-0DFB-6683-6EEDB34C50E9}"/>
              </a:ext>
            </a:extLst>
          </p:cNvPr>
          <p:cNvSpPr txBox="1">
            <a:spLocks/>
          </p:cNvSpPr>
          <p:nvPr/>
        </p:nvSpPr>
        <p:spPr>
          <a:xfrm>
            <a:off x="4744720" y="95528"/>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Combining Two TF Factors</a:t>
            </a:r>
          </a:p>
        </p:txBody>
      </p:sp>
      <p:sp>
        <p:nvSpPr>
          <p:cNvPr id="3" name="Content Placeholder 5">
            <a:extLst>
              <a:ext uri="{FF2B5EF4-FFF2-40B4-BE49-F238E27FC236}">
                <a16:creationId xmlns:a16="http://schemas.microsoft.com/office/drawing/2014/main" id="{F522C0B6-4EEB-82E9-CD81-18F0B23FCECA}"/>
              </a:ext>
            </a:extLst>
          </p:cNvPr>
          <p:cNvSpPr txBox="1">
            <a:spLocks/>
          </p:cNvSpPr>
          <p:nvPr/>
        </p:nvSpPr>
        <p:spPr>
          <a:xfrm>
            <a:off x="1137920" y="859555"/>
            <a:ext cx="10265717"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The first function descends more rapidly than the second function, while the second function descends more rapidly than the third function. Experiments suggest that 2nd function  performs consistently better than the other two functions on all the collections. Hence, we </a:t>
            </a:r>
            <a:r>
              <a:rPr lang="en-US" b="1" dirty="0">
                <a:latin typeface="Cambria" panose="02040503050406030204" pitchFamily="18" charset="0"/>
                <a:ea typeface="Cambria" panose="02040503050406030204" pitchFamily="18" charset="0"/>
              </a:rPr>
              <a:t>set w = QLF</a:t>
            </a:r>
            <a:r>
              <a:rPr lang="en-US" sz="1600" b="1" dirty="0">
                <a:latin typeface="Cambria" panose="02040503050406030204" pitchFamily="18" charset="0"/>
                <a:ea typeface="Cambria" panose="02040503050406030204" pitchFamily="18" charset="0"/>
              </a:rPr>
              <a:t>2</a:t>
            </a:r>
            <a:r>
              <a:rPr lang="en-US" b="1" dirty="0">
                <a:latin typeface="Cambria" panose="02040503050406030204" pitchFamily="18" charset="0"/>
                <a:ea typeface="Cambria" panose="02040503050406030204" pitchFamily="18" charset="0"/>
              </a:rPr>
              <a:t>(Q). </a:t>
            </a:r>
          </a:p>
        </p:txBody>
      </p:sp>
    </p:spTree>
    <p:extLst>
      <p:ext uri="{BB962C8B-B14F-4D97-AF65-F5344CB8AC3E}">
        <p14:creationId xmlns:p14="http://schemas.microsoft.com/office/powerpoint/2010/main" val="410005335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BC9C5033-D9F0-E3FB-88AE-D2BB2FA984E4}"/>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Term Discrimination Factor</a:t>
            </a:r>
          </a:p>
        </p:txBody>
      </p:sp>
      <p:sp>
        <p:nvSpPr>
          <p:cNvPr id="3" name="Content Placeholder 5">
            <a:extLst>
              <a:ext uri="{FF2B5EF4-FFF2-40B4-BE49-F238E27FC236}">
                <a16:creationId xmlns:a16="http://schemas.microsoft.com/office/drawing/2014/main" id="{BD5FC7F0-7778-3031-0DBB-614694F999A2}"/>
              </a:ext>
            </a:extLst>
          </p:cNvPr>
          <p:cNvSpPr txBox="1">
            <a:spLocks/>
          </p:cNvSpPr>
          <p:nvPr/>
        </p:nvSpPr>
        <p:spPr>
          <a:xfrm>
            <a:off x="788362" y="859555"/>
            <a:ext cx="10615275"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The goal of the term discrimination factor in weighting is to assign </a:t>
            </a:r>
            <a:r>
              <a:rPr lang="en-US" b="1" dirty="0">
                <a:latin typeface="Cambria" panose="02040503050406030204" pitchFamily="18" charset="0"/>
                <a:ea typeface="Cambria" panose="02040503050406030204" pitchFamily="18" charset="0"/>
              </a:rPr>
              <a:t>higher score</a:t>
            </a:r>
            <a:r>
              <a:rPr lang="en-US" dirty="0">
                <a:latin typeface="Cambria" panose="02040503050406030204" pitchFamily="18" charset="0"/>
                <a:ea typeface="Cambria" panose="02040503050406030204" pitchFamily="18" charset="0"/>
              </a:rPr>
              <a:t> to the documents that contain the terms which are </a:t>
            </a:r>
            <a:r>
              <a:rPr lang="en-US" b="1" dirty="0">
                <a:latin typeface="Cambria" panose="02040503050406030204" pitchFamily="18" charset="0"/>
                <a:ea typeface="Cambria" panose="02040503050406030204" pitchFamily="18" charset="0"/>
              </a:rPr>
              <a:t>rare in the collection</a:t>
            </a:r>
            <a:r>
              <a:rPr lang="en-US" dirty="0">
                <a:latin typeface="Cambria" panose="02040503050406030204" pitchFamily="18" charset="0"/>
                <a:ea typeface="Cambria" panose="02040503050406030204" pitchFamily="18" charset="0"/>
              </a:rPr>
              <a:t>. Inverse document frequency (</a:t>
            </a:r>
            <a:r>
              <a:rPr lang="en-US" b="1" dirty="0">
                <a:latin typeface="Cambria" panose="02040503050406030204" pitchFamily="18" charset="0"/>
                <a:ea typeface="Cambria" panose="02040503050406030204" pitchFamily="18" charset="0"/>
              </a:rPr>
              <a:t>IDF</a:t>
            </a:r>
            <a:r>
              <a:rPr lang="en-US" dirty="0">
                <a:latin typeface="Cambria" panose="02040503050406030204" pitchFamily="18" charset="0"/>
                <a:ea typeface="Cambria" panose="02040503050406030204" pitchFamily="18" charset="0"/>
              </a:rPr>
              <a:t>) is a well known measure that serves the above purpose. We use the following standard </a:t>
            </a:r>
            <a:r>
              <a:rPr lang="en-US" dirty="0" err="1">
                <a:latin typeface="Cambria" panose="02040503050406030204" pitchFamily="18" charset="0"/>
                <a:ea typeface="Cambria" panose="02040503050406030204" pitchFamily="18" charset="0"/>
              </a:rPr>
              <a:t>idf</a:t>
            </a:r>
            <a:r>
              <a:rPr lang="en-US" dirty="0">
                <a:latin typeface="Cambria" panose="02040503050406030204" pitchFamily="18" charset="0"/>
                <a:ea typeface="Cambria" panose="02040503050406030204" pitchFamily="18" charset="0"/>
              </a:rPr>
              <a:t> measure.</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The above IDF measure considers only the </a:t>
            </a:r>
            <a:r>
              <a:rPr lang="en-US" b="1" dirty="0">
                <a:latin typeface="Cambria" panose="02040503050406030204" pitchFamily="18" charset="0"/>
                <a:ea typeface="Cambria" panose="02040503050406030204" pitchFamily="18" charset="0"/>
              </a:rPr>
              <a:t>presence or absence</a:t>
            </a:r>
            <a:r>
              <a:rPr lang="en-US" dirty="0">
                <a:latin typeface="Cambria" panose="02040503050406030204" pitchFamily="18" charset="0"/>
                <a:ea typeface="Cambria" panose="02040503050406030204" pitchFamily="18" charset="0"/>
              </a:rPr>
              <a:t> of a term in a document and does not take into account the </a:t>
            </a:r>
            <a:r>
              <a:rPr lang="en-US" b="1" dirty="0">
                <a:latin typeface="Cambria" panose="02040503050406030204" pitchFamily="18" charset="0"/>
                <a:ea typeface="Cambria" panose="02040503050406030204" pitchFamily="18" charset="0"/>
              </a:rPr>
              <a:t>document specific term occurrence. </a:t>
            </a:r>
          </a:p>
        </p:txBody>
      </p:sp>
      <p:pic>
        <p:nvPicPr>
          <p:cNvPr id="6" name="Picture 5">
            <a:extLst>
              <a:ext uri="{FF2B5EF4-FFF2-40B4-BE49-F238E27FC236}">
                <a16:creationId xmlns:a16="http://schemas.microsoft.com/office/drawing/2014/main" id="{98B16DE6-8040-1922-4A80-4FDEBF547FB4}"/>
              </a:ext>
            </a:extLst>
          </p:cNvPr>
          <p:cNvPicPr>
            <a:picLocks noChangeAspect="1"/>
          </p:cNvPicPr>
          <p:nvPr/>
        </p:nvPicPr>
        <p:blipFill>
          <a:blip r:embed="rId3"/>
          <a:stretch>
            <a:fillRect/>
          </a:stretch>
        </p:blipFill>
        <p:spPr>
          <a:xfrm>
            <a:off x="4133575" y="2638315"/>
            <a:ext cx="3924848" cy="790685"/>
          </a:xfrm>
          <a:prstGeom prst="rect">
            <a:avLst/>
          </a:prstGeom>
        </p:spPr>
      </p:pic>
    </p:spTree>
    <p:extLst>
      <p:ext uri="{BB962C8B-B14F-4D97-AF65-F5344CB8AC3E}">
        <p14:creationId xmlns:p14="http://schemas.microsoft.com/office/powerpoint/2010/main" val="184717926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5737D219-1E69-1940-96D8-020F11D9CB1C}"/>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Term Discrimination Factor</a:t>
            </a:r>
          </a:p>
        </p:txBody>
      </p:sp>
      <p:sp>
        <p:nvSpPr>
          <p:cNvPr id="3" name="Content Placeholder 5">
            <a:extLst>
              <a:ext uri="{FF2B5EF4-FFF2-40B4-BE49-F238E27FC236}">
                <a16:creationId xmlns:a16="http://schemas.microsoft.com/office/drawing/2014/main" id="{B3E885D0-9F94-4F30-A5EC-0CC600D3175D}"/>
              </a:ext>
            </a:extLst>
          </p:cNvPr>
          <p:cNvSpPr txBox="1">
            <a:spLocks/>
          </p:cNvSpPr>
          <p:nvPr/>
        </p:nvSpPr>
        <p:spPr>
          <a:xfrm>
            <a:off x="788362" y="859555"/>
            <a:ext cx="1109883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We hypothesize that if two terms have equal document frequencies, then the </a:t>
            </a:r>
            <a:r>
              <a:rPr lang="en-US" b="1" dirty="0">
                <a:latin typeface="Cambria" panose="02040503050406030204" pitchFamily="18" charset="0"/>
                <a:ea typeface="Cambria" panose="02040503050406030204" pitchFamily="18" charset="0"/>
              </a:rPr>
              <a:t>term discrimination should increase with the increase in average elite set term frequency</a:t>
            </a:r>
            <a:r>
              <a:rPr lang="en-US" dirty="0">
                <a:latin typeface="Cambria" panose="02040503050406030204" pitchFamily="18" charset="0"/>
                <a:ea typeface="Cambria" panose="02040503050406030204" pitchFamily="18" charset="0"/>
              </a:rPr>
              <a:t>. The average elite set term frequency (AEF) is defined as </a:t>
            </a:r>
            <a:r>
              <a:rPr lang="en-US" b="1" dirty="0">
                <a:latin typeface="Cambria" panose="02040503050406030204" pitchFamily="18" charset="0"/>
                <a:ea typeface="Cambria" panose="02040503050406030204" pitchFamily="18" charset="0"/>
              </a:rPr>
              <a:t>CTF(</a:t>
            </a:r>
            <a:r>
              <a:rPr lang="en-US" b="1" dirty="0" err="1">
                <a:latin typeface="Cambria" panose="02040503050406030204" pitchFamily="18" charset="0"/>
                <a:ea typeface="Cambria" panose="02040503050406030204" pitchFamily="18" charset="0"/>
              </a:rPr>
              <a:t>t,C</a:t>
            </a:r>
            <a:r>
              <a:rPr lang="en-US" b="1" dirty="0">
                <a:latin typeface="Cambria" panose="02040503050406030204" pitchFamily="18" charset="0"/>
                <a:ea typeface="Cambria" panose="02040503050406030204" pitchFamily="18" charset="0"/>
              </a:rPr>
              <a:t>) / DF(</a:t>
            </a:r>
            <a:r>
              <a:rPr lang="en-US" b="1" dirty="0" err="1">
                <a:latin typeface="Cambria" panose="02040503050406030204" pitchFamily="18" charset="0"/>
                <a:ea typeface="Cambria" panose="02040503050406030204" pitchFamily="18" charset="0"/>
              </a:rPr>
              <a:t>t,C</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,where </a:t>
            </a:r>
            <a:r>
              <a:rPr lang="en-US" b="1" dirty="0">
                <a:latin typeface="Cambria" panose="02040503050406030204" pitchFamily="18" charset="0"/>
                <a:ea typeface="Cambria" panose="02040503050406030204" pitchFamily="18" charset="0"/>
              </a:rPr>
              <a:t>CTF(t, C) denotes the total occurrence of the term t in the entire collection</a:t>
            </a:r>
            <a:r>
              <a:rPr lang="en-US" dirty="0">
                <a:latin typeface="Cambria" panose="02040503050406030204" pitchFamily="18" charset="0"/>
                <a:ea typeface="Cambria" panose="02040503050406030204" pitchFamily="18" charset="0"/>
              </a:rPr>
              <a:t>. However, the combination of raw AEF with IDF may disturb the overall term discrimination value, since the IDF values are obtained by dampening through log function. Hence, we employ a </a:t>
            </a:r>
            <a:r>
              <a:rPr lang="en-US" b="1" dirty="0">
                <a:latin typeface="Cambria" panose="02040503050406030204" pitchFamily="18" charset="0"/>
                <a:ea typeface="Cambria" panose="02040503050406030204" pitchFamily="18" charset="0"/>
              </a:rPr>
              <a:t>slowly increasing function </a:t>
            </a:r>
            <a:r>
              <a:rPr lang="en-US" dirty="0">
                <a:latin typeface="Cambria" panose="02040503050406030204" pitchFamily="18" charset="0"/>
                <a:ea typeface="Cambria" panose="02040503050406030204" pitchFamily="18" charset="0"/>
              </a:rPr>
              <a:t>to transform the AEF values for this combination. Once again, we use the function </a:t>
            </a:r>
            <a:r>
              <a:rPr lang="en-US" b="1" dirty="0">
                <a:latin typeface="Cambria" panose="02040503050406030204" pitchFamily="18" charset="0"/>
                <a:ea typeface="Cambria" panose="02040503050406030204" pitchFamily="18" charset="0"/>
              </a:rPr>
              <a:t>f(x)= x/(1 + x)</a:t>
            </a:r>
            <a:r>
              <a:rPr lang="en-US" dirty="0">
                <a:latin typeface="Cambria" panose="02040503050406030204" pitchFamily="18" charset="0"/>
                <a:ea typeface="Cambria" panose="02040503050406030204" pitchFamily="18" charset="0"/>
              </a:rPr>
              <a:t> to transform the AEF values for the final use. The final term discrimination value of term t is computed as</a:t>
            </a:r>
          </a:p>
        </p:txBody>
      </p:sp>
      <p:pic>
        <p:nvPicPr>
          <p:cNvPr id="6" name="Picture 5">
            <a:extLst>
              <a:ext uri="{FF2B5EF4-FFF2-40B4-BE49-F238E27FC236}">
                <a16:creationId xmlns:a16="http://schemas.microsoft.com/office/drawing/2014/main" id="{468C9C81-D06E-BFA2-B207-B57CBDEA1B3A}"/>
              </a:ext>
            </a:extLst>
          </p:cNvPr>
          <p:cNvPicPr>
            <a:picLocks noChangeAspect="1"/>
          </p:cNvPicPr>
          <p:nvPr/>
        </p:nvPicPr>
        <p:blipFill>
          <a:blip r:embed="rId3"/>
          <a:stretch>
            <a:fillRect/>
          </a:stretch>
        </p:blipFill>
        <p:spPr>
          <a:xfrm>
            <a:off x="3648503" y="5236339"/>
            <a:ext cx="5287113" cy="762106"/>
          </a:xfrm>
          <a:prstGeom prst="rect">
            <a:avLst/>
          </a:prstGeom>
        </p:spPr>
      </p:pic>
    </p:spTree>
    <p:extLst>
      <p:ext uri="{BB962C8B-B14F-4D97-AF65-F5344CB8AC3E}">
        <p14:creationId xmlns:p14="http://schemas.microsoft.com/office/powerpoint/2010/main" val="29269069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4">
            <a:extLst>
              <a:ext uri="{FF2B5EF4-FFF2-40B4-BE49-F238E27FC236}">
                <a16:creationId xmlns:a16="http://schemas.microsoft.com/office/drawing/2014/main" id="{57AFBDE1-F37C-B4EB-A9AB-2FA706BB19A4}"/>
              </a:ext>
            </a:extLst>
          </p:cNvPr>
          <p:cNvSpPr txBox="1">
            <a:spLocks/>
          </p:cNvSpPr>
          <p:nvPr/>
        </p:nvSpPr>
        <p:spPr>
          <a:xfrm>
            <a:off x="4805681" y="306981"/>
            <a:ext cx="6583680"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Term Discrimination Factor</a:t>
            </a:r>
          </a:p>
        </p:txBody>
      </p:sp>
      <p:sp>
        <p:nvSpPr>
          <p:cNvPr id="8" name="Content Placeholder 5">
            <a:extLst>
              <a:ext uri="{FF2B5EF4-FFF2-40B4-BE49-F238E27FC236}">
                <a16:creationId xmlns:a16="http://schemas.microsoft.com/office/drawing/2014/main" id="{299499C5-EE42-3C82-1A9D-752D8E3F6A74}"/>
              </a:ext>
            </a:extLst>
          </p:cNvPr>
          <p:cNvSpPr txBox="1">
            <a:spLocks/>
          </p:cNvSpPr>
          <p:nvPr/>
        </p:nvSpPr>
        <p:spPr>
          <a:xfrm>
            <a:off x="1117600" y="1184675"/>
            <a:ext cx="10596879"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Experiments reveal that the use of the above term discrimination has not very significant effect on the overall performance. However, it is observed that the improvements, although are small, consistent across the collections.</a:t>
            </a: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Integrating the above factors we now obtain the following final scoring formula.</a:t>
            </a:r>
          </a:p>
        </p:txBody>
      </p:sp>
      <p:sp>
        <p:nvSpPr>
          <p:cNvPr id="10" name="Title 4">
            <a:extLst>
              <a:ext uri="{FF2B5EF4-FFF2-40B4-BE49-F238E27FC236}">
                <a16:creationId xmlns:a16="http://schemas.microsoft.com/office/drawing/2014/main" id="{C2DD0D96-60FC-469F-7396-6027A991F102}"/>
              </a:ext>
            </a:extLst>
          </p:cNvPr>
          <p:cNvSpPr txBox="1">
            <a:spLocks/>
          </p:cNvSpPr>
          <p:nvPr/>
        </p:nvSpPr>
        <p:spPr>
          <a:xfrm>
            <a:off x="1117600" y="3061273"/>
            <a:ext cx="6583680"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Final Formula</a:t>
            </a:r>
          </a:p>
        </p:txBody>
      </p:sp>
      <p:pic>
        <p:nvPicPr>
          <p:cNvPr id="12" name="Picture 11">
            <a:extLst>
              <a:ext uri="{FF2B5EF4-FFF2-40B4-BE49-F238E27FC236}">
                <a16:creationId xmlns:a16="http://schemas.microsoft.com/office/drawing/2014/main" id="{3ACF16DA-4DBB-D05F-2053-7591B40AD3E4}"/>
              </a:ext>
            </a:extLst>
          </p:cNvPr>
          <p:cNvPicPr>
            <a:picLocks noChangeAspect="1"/>
          </p:cNvPicPr>
          <p:nvPr/>
        </p:nvPicPr>
        <p:blipFill>
          <a:blip r:embed="rId3"/>
          <a:stretch>
            <a:fillRect/>
          </a:stretch>
        </p:blipFill>
        <p:spPr>
          <a:xfrm>
            <a:off x="4260460" y="4484308"/>
            <a:ext cx="6209864" cy="971611"/>
          </a:xfrm>
          <a:prstGeom prst="rect">
            <a:avLst/>
          </a:prstGeom>
        </p:spPr>
      </p:pic>
    </p:spTree>
    <p:extLst>
      <p:ext uri="{BB962C8B-B14F-4D97-AF65-F5344CB8AC3E}">
        <p14:creationId xmlns:p14="http://schemas.microsoft.com/office/powerpoint/2010/main" val="13512941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2F037DC0-B238-7EDF-E459-975CB8C07075}"/>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Final Formula</a:t>
            </a:r>
          </a:p>
        </p:txBody>
      </p:sp>
      <p:sp>
        <p:nvSpPr>
          <p:cNvPr id="7" name="Content Placeholder 5">
            <a:extLst>
              <a:ext uri="{FF2B5EF4-FFF2-40B4-BE49-F238E27FC236}">
                <a16:creationId xmlns:a16="http://schemas.microsoft.com/office/drawing/2014/main" id="{C9922178-03D4-A96D-6255-489E04A1F365}"/>
              </a:ext>
            </a:extLst>
          </p:cNvPr>
          <p:cNvSpPr txBox="1">
            <a:spLocks/>
          </p:cNvSpPr>
          <p:nvPr/>
        </p:nvSpPr>
        <p:spPr>
          <a:xfrm>
            <a:off x="788362" y="859555"/>
            <a:ext cx="11007397"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Again, since </a:t>
            </a:r>
            <a:r>
              <a:rPr lang="en-US" b="1" dirty="0">
                <a:latin typeface="Cambria" panose="02040503050406030204" pitchFamily="18" charset="0"/>
                <a:ea typeface="Cambria" panose="02040503050406030204" pitchFamily="18" charset="0"/>
              </a:rPr>
              <a:t>TFF(</a:t>
            </a:r>
            <a:r>
              <a:rPr lang="en-US" b="1" dirty="0" err="1">
                <a:latin typeface="Cambria" panose="02040503050406030204" pitchFamily="18" charset="0"/>
                <a:ea typeface="Cambria" panose="02040503050406030204" pitchFamily="18" charset="0"/>
              </a:rPr>
              <a:t>qi,D</a:t>
            </a:r>
            <a:r>
              <a:rPr lang="en-US" b="1" dirty="0">
                <a:latin typeface="Cambria" panose="02040503050406030204" pitchFamily="18" charset="0"/>
                <a:ea typeface="Cambria" panose="02040503050406030204" pitchFamily="18" charset="0"/>
              </a:rPr>
              <a:t>) &lt; 1</a:t>
            </a:r>
            <a:r>
              <a:rPr lang="en-US" dirty="0">
                <a:latin typeface="Cambria" panose="02040503050406030204" pitchFamily="18" charset="0"/>
                <a:ea typeface="Cambria" panose="02040503050406030204" pitchFamily="18" charset="0"/>
              </a:rPr>
              <a:t>, we obtain the following relationship.</a:t>
            </a: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Therefore, we can easily modify final formula to get the </a:t>
            </a:r>
            <a:r>
              <a:rPr lang="en-US" b="1" dirty="0">
                <a:latin typeface="Cambria" panose="02040503050406030204" pitchFamily="18" charset="0"/>
                <a:ea typeface="Cambria" panose="02040503050406030204" pitchFamily="18" charset="0"/>
              </a:rPr>
              <a:t>normalized similarity scores (0 &lt;Sim(Q,D) &lt; 1)</a:t>
            </a:r>
            <a:r>
              <a:rPr lang="en-US" dirty="0">
                <a:latin typeface="Cambria" panose="02040503050406030204" pitchFamily="18" charset="0"/>
                <a:ea typeface="Cambria" panose="02040503050406030204" pitchFamily="18" charset="0"/>
              </a:rPr>
              <a:t> as follows:</a:t>
            </a: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p:txBody>
      </p:sp>
      <p:pic>
        <p:nvPicPr>
          <p:cNvPr id="10" name="Picture 9">
            <a:extLst>
              <a:ext uri="{FF2B5EF4-FFF2-40B4-BE49-F238E27FC236}">
                <a16:creationId xmlns:a16="http://schemas.microsoft.com/office/drawing/2014/main" id="{FF5B0999-C1B0-52AA-A3B8-03F99CD6B1FD}"/>
              </a:ext>
            </a:extLst>
          </p:cNvPr>
          <p:cNvPicPr>
            <a:picLocks noChangeAspect="1"/>
          </p:cNvPicPr>
          <p:nvPr/>
        </p:nvPicPr>
        <p:blipFill>
          <a:blip r:embed="rId3"/>
          <a:stretch>
            <a:fillRect/>
          </a:stretch>
        </p:blipFill>
        <p:spPr>
          <a:xfrm>
            <a:off x="3690042" y="1405829"/>
            <a:ext cx="3724795" cy="876422"/>
          </a:xfrm>
          <a:prstGeom prst="rect">
            <a:avLst/>
          </a:prstGeom>
        </p:spPr>
      </p:pic>
      <p:pic>
        <p:nvPicPr>
          <p:cNvPr id="12" name="Picture 11">
            <a:extLst>
              <a:ext uri="{FF2B5EF4-FFF2-40B4-BE49-F238E27FC236}">
                <a16:creationId xmlns:a16="http://schemas.microsoft.com/office/drawing/2014/main" id="{B5AD0456-52E0-7809-DD2D-C1BB44EAAEB2}"/>
              </a:ext>
            </a:extLst>
          </p:cNvPr>
          <p:cNvPicPr>
            <a:picLocks noChangeAspect="1"/>
          </p:cNvPicPr>
          <p:nvPr/>
        </p:nvPicPr>
        <p:blipFill>
          <a:blip r:embed="rId4"/>
          <a:stretch>
            <a:fillRect/>
          </a:stretch>
        </p:blipFill>
        <p:spPr>
          <a:xfrm>
            <a:off x="2990416" y="3429000"/>
            <a:ext cx="6211167" cy="1581371"/>
          </a:xfrm>
          <a:prstGeom prst="rect">
            <a:avLst/>
          </a:prstGeom>
        </p:spPr>
      </p:pic>
    </p:spTree>
    <p:extLst>
      <p:ext uri="{BB962C8B-B14F-4D97-AF65-F5344CB8AC3E}">
        <p14:creationId xmlns:p14="http://schemas.microsoft.com/office/powerpoint/2010/main" val="1025931000"/>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F21EDA23-2A7C-5B43-B82C-AA7A9A5CD9A8}"/>
              </a:ext>
            </a:extLst>
          </p:cNvPr>
          <p:cNvSpPr txBox="1">
            <a:spLocks/>
          </p:cNvSpPr>
          <p:nvPr/>
        </p:nvSpPr>
        <p:spPr>
          <a:xfrm>
            <a:off x="1270000" y="14846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Final Formula</a:t>
            </a:r>
          </a:p>
        </p:txBody>
      </p:sp>
      <p:sp>
        <p:nvSpPr>
          <p:cNvPr id="3" name="Content Placeholder 5">
            <a:extLst>
              <a:ext uri="{FF2B5EF4-FFF2-40B4-BE49-F238E27FC236}">
                <a16:creationId xmlns:a16="http://schemas.microsoft.com/office/drawing/2014/main" id="{589E8DA0-D878-5804-1052-284691774678}"/>
              </a:ext>
            </a:extLst>
          </p:cNvPr>
          <p:cNvSpPr txBox="1">
            <a:spLocks/>
          </p:cNvSpPr>
          <p:nvPr/>
        </p:nvSpPr>
        <p:spPr>
          <a:xfrm>
            <a:off x="788363" y="85955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Both Equations are equivalent in the sense that they produce the same ranked lists. However, an application that requires normalized scores, then last formula can be used as a suitable alternative.</a:t>
            </a:r>
          </a:p>
        </p:txBody>
      </p:sp>
    </p:spTree>
    <p:extLst>
      <p:ext uri="{BB962C8B-B14F-4D97-AF65-F5344CB8AC3E}">
        <p14:creationId xmlns:p14="http://schemas.microsoft.com/office/powerpoint/2010/main" val="29591878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D1473961-A062-F886-6AA8-D5F8123EBB70}"/>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EXPERIMENTAL SETUP</a:t>
            </a:r>
          </a:p>
        </p:txBody>
      </p:sp>
      <p:sp>
        <p:nvSpPr>
          <p:cNvPr id="3" name="Content Placeholder 5">
            <a:extLst>
              <a:ext uri="{FF2B5EF4-FFF2-40B4-BE49-F238E27FC236}">
                <a16:creationId xmlns:a16="http://schemas.microsoft.com/office/drawing/2014/main" id="{F5EBA475-E380-F6B7-AAB1-5ADCE175007B}"/>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ambria" panose="02040503050406030204" pitchFamily="18" charset="0"/>
                <a:ea typeface="Cambria" panose="02040503050406030204" pitchFamily="18" charset="0"/>
              </a:rPr>
              <a:t>Data-</a:t>
            </a:r>
            <a:r>
              <a:rPr lang="en-US" dirty="0">
                <a:latin typeface="Cambria" panose="02040503050406030204" pitchFamily="18" charset="0"/>
                <a:ea typeface="Cambria" panose="02040503050406030204" pitchFamily="18" charset="0"/>
              </a:rPr>
              <a:t>  Following table summarizes the statistics on test collections used in our experiments. The experiments are conducted on a large number of standard test collections, that vary both by type, the size of the document collections and the number of queries. </a:t>
            </a:r>
            <a:r>
              <a:rPr lang="en-US" b="1" dirty="0">
                <a:latin typeface="Cambria" panose="02040503050406030204" pitchFamily="18" charset="0"/>
                <a:ea typeface="Cambria" panose="02040503050406030204" pitchFamily="18" charset="0"/>
              </a:rPr>
              <a:t>TREC 6,7,8 and ROBUST</a:t>
            </a:r>
            <a:r>
              <a:rPr lang="en-US" dirty="0">
                <a:latin typeface="Cambria" panose="02040503050406030204" pitchFamily="18" charset="0"/>
                <a:ea typeface="Cambria" panose="02040503050406030204" pitchFamily="18" charset="0"/>
              </a:rPr>
              <a:t> are news collections. </a:t>
            </a:r>
            <a:r>
              <a:rPr lang="en-US" b="1" dirty="0">
                <a:latin typeface="Cambria" panose="02040503050406030204" pitchFamily="18" charset="0"/>
                <a:ea typeface="Cambria" panose="02040503050406030204" pitchFamily="18" charset="0"/>
              </a:rPr>
              <a:t>WT10G</a:t>
            </a:r>
            <a:r>
              <a:rPr lang="en-US" dirty="0">
                <a:latin typeface="Cambria" panose="02040503050406030204" pitchFamily="18" charset="0"/>
                <a:ea typeface="Cambria" panose="02040503050406030204" pitchFamily="18" charset="0"/>
              </a:rPr>
              <a:t> is a web collection of moderate size, while </a:t>
            </a:r>
            <a:r>
              <a:rPr lang="en-US" b="1" dirty="0">
                <a:latin typeface="Cambria" panose="02040503050406030204" pitchFamily="18" charset="0"/>
                <a:ea typeface="Cambria" panose="02040503050406030204" pitchFamily="18" charset="0"/>
              </a:rPr>
              <a:t>GOV2 </a:t>
            </a:r>
            <a:r>
              <a:rPr lang="en-US" dirty="0">
                <a:latin typeface="Cambria" panose="02040503050406030204" pitchFamily="18" charset="0"/>
                <a:ea typeface="Cambria" panose="02040503050406030204" pitchFamily="18" charset="0"/>
              </a:rPr>
              <a:t>is another web collection of larger size, which is crawled from .gov domain. The </a:t>
            </a:r>
            <a:r>
              <a:rPr lang="en-US" b="1" dirty="0">
                <a:latin typeface="Cambria" panose="02040503050406030204" pitchFamily="18" charset="0"/>
                <a:ea typeface="Cambria" panose="02040503050406030204" pitchFamily="18" charset="0"/>
              </a:rPr>
              <a:t>MQ-07 and MQ-08 </a:t>
            </a:r>
            <a:r>
              <a:rPr lang="en-US" dirty="0">
                <a:latin typeface="Cambria" panose="02040503050406030204" pitchFamily="18" charset="0"/>
                <a:ea typeface="Cambria" panose="02040503050406030204" pitchFamily="18" charset="0"/>
              </a:rPr>
              <a:t>set of queries are based on the </a:t>
            </a:r>
          </a:p>
          <a:p>
            <a:pPr marL="0" indent="0">
              <a:buNone/>
            </a:pPr>
            <a:r>
              <a:rPr lang="en-US" dirty="0">
                <a:latin typeface="Cambria" panose="02040503050406030204" pitchFamily="18" charset="0"/>
                <a:ea typeface="Cambria" panose="02040503050406030204" pitchFamily="18" charset="0"/>
              </a:rPr>
              <a:t>Million Query Track 2007</a:t>
            </a:r>
          </a:p>
          <a:p>
            <a:pPr marL="0" indent="0">
              <a:buNone/>
            </a:pPr>
            <a:r>
              <a:rPr lang="en-US" dirty="0">
                <a:latin typeface="Cambria" panose="02040503050406030204" pitchFamily="18" charset="0"/>
                <a:ea typeface="Cambria" panose="02040503050406030204" pitchFamily="18" charset="0"/>
              </a:rPr>
              <a:t>and 2008 respectively.</a:t>
            </a:r>
          </a:p>
        </p:txBody>
      </p:sp>
      <p:pic>
        <p:nvPicPr>
          <p:cNvPr id="5" name="Picture 4">
            <a:extLst>
              <a:ext uri="{FF2B5EF4-FFF2-40B4-BE49-F238E27FC236}">
                <a16:creationId xmlns:a16="http://schemas.microsoft.com/office/drawing/2014/main" id="{34545E00-ADA9-E584-7F06-FEF931BFC9C8}"/>
              </a:ext>
            </a:extLst>
          </p:cNvPr>
          <p:cNvPicPr>
            <a:picLocks noChangeAspect="1"/>
          </p:cNvPicPr>
          <p:nvPr/>
        </p:nvPicPr>
        <p:blipFill>
          <a:blip r:embed="rId3"/>
          <a:stretch>
            <a:fillRect/>
          </a:stretch>
        </p:blipFill>
        <p:spPr>
          <a:xfrm>
            <a:off x="5204941" y="3788538"/>
            <a:ext cx="5563376" cy="2715004"/>
          </a:xfrm>
          <a:prstGeom prst="rect">
            <a:avLst/>
          </a:prstGeom>
        </p:spPr>
      </p:pic>
    </p:spTree>
    <p:extLst>
      <p:ext uri="{BB962C8B-B14F-4D97-AF65-F5344CB8AC3E}">
        <p14:creationId xmlns:p14="http://schemas.microsoft.com/office/powerpoint/2010/main" val="344805193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CB126CDD-8D0F-08D3-98F7-FAEDB8B902E1}"/>
              </a:ext>
            </a:extLst>
          </p:cNvPr>
          <p:cNvSpPr txBox="1">
            <a:spLocks/>
          </p:cNvSpPr>
          <p:nvPr/>
        </p:nvSpPr>
        <p:spPr>
          <a:xfrm>
            <a:off x="5667221" y="354458"/>
            <a:ext cx="5783099"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EXPERIMENTAL SETUP</a:t>
            </a:r>
          </a:p>
        </p:txBody>
      </p:sp>
      <p:sp>
        <p:nvSpPr>
          <p:cNvPr id="3" name="Content Placeholder 5">
            <a:extLst>
              <a:ext uri="{FF2B5EF4-FFF2-40B4-BE49-F238E27FC236}">
                <a16:creationId xmlns:a16="http://schemas.microsoft.com/office/drawing/2014/main" id="{04DE6215-C477-01AA-4185-5432FB383FCF}"/>
              </a:ext>
            </a:extLst>
          </p:cNvPr>
          <p:cNvSpPr txBox="1">
            <a:spLocks/>
          </p:cNvSpPr>
          <p:nvPr/>
        </p:nvSpPr>
        <p:spPr>
          <a:xfrm>
            <a:off x="1076960" y="900195"/>
            <a:ext cx="1027381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Except </a:t>
            </a:r>
            <a:r>
              <a:rPr lang="en-US" b="1" dirty="0">
                <a:latin typeface="Cambria" panose="02040503050406030204" pitchFamily="18" charset="0"/>
                <a:ea typeface="Cambria" panose="02040503050406030204" pitchFamily="18" charset="0"/>
              </a:rPr>
              <a:t>TREC-6,7,8</a:t>
            </a:r>
            <a:r>
              <a:rPr lang="en-US" dirty="0">
                <a:latin typeface="Cambria" panose="02040503050406030204" pitchFamily="18" charset="0"/>
                <a:ea typeface="Cambria" panose="02040503050406030204" pitchFamily="18" charset="0"/>
              </a:rPr>
              <a:t>, all the test collections have </a:t>
            </a:r>
            <a:r>
              <a:rPr lang="en-US" b="1" dirty="0">
                <a:latin typeface="Cambria" panose="02040503050406030204" pitchFamily="18" charset="0"/>
                <a:ea typeface="Cambria" panose="02040503050406030204" pitchFamily="18" charset="0"/>
              </a:rPr>
              <a:t>three scale graded relevance assessment</a:t>
            </a:r>
            <a:r>
              <a:rPr lang="en-US" dirty="0">
                <a:latin typeface="Cambria" panose="02040503050406030204" pitchFamily="18" charset="0"/>
                <a:ea typeface="Cambria" panose="02040503050406030204" pitchFamily="18" charset="0"/>
              </a:rPr>
              <a:t>. The grades are 0, 1 and 2- meaning non-relevant, relevant and highly relevant respectively. TREC-6,7,8 collection uses </a:t>
            </a:r>
            <a:r>
              <a:rPr lang="en-US" b="1" dirty="0">
                <a:latin typeface="Cambria" panose="02040503050406030204" pitchFamily="18" charset="0"/>
                <a:ea typeface="Cambria" panose="02040503050406030204" pitchFamily="18" charset="0"/>
              </a:rPr>
              <a:t>binary relevance assessment</a:t>
            </a:r>
            <a:r>
              <a:rPr lang="en-US"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465999846"/>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3D6CC3D6-E0F3-4403-EB5D-AC00B987C317}"/>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Evaluation Measures and IR System</a:t>
            </a:r>
          </a:p>
        </p:txBody>
      </p:sp>
      <p:sp>
        <p:nvSpPr>
          <p:cNvPr id="3" name="Content Placeholder 5">
            <a:extLst>
              <a:ext uri="{FF2B5EF4-FFF2-40B4-BE49-F238E27FC236}">
                <a16:creationId xmlns:a16="http://schemas.microsoft.com/office/drawing/2014/main" id="{97DF1C2D-5843-EF17-59F7-137A9221238F}"/>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All experiments are carried out using TERRIER1 retrieval system (version 3.5). Terrier is a flexible Information retrieval system which provides the implementation of many well known models. We use </a:t>
            </a:r>
            <a:r>
              <a:rPr lang="en-US" b="1" dirty="0">
                <a:latin typeface="Cambria" panose="02040503050406030204" pitchFamily="18" charset="0"/>
                <a:ea typeface="Cambria" panose="02040503050406030204" pitchFamily="18" charset="0"/>
              </a:rPr>
              <a:t>title field </a:t>
            </a:r>
            <a:r>
              <a:rPr lang="en-US" dirty="0">
                <a:latin typeface="Cambria" panose="02040503050406030204" pitchFamily="18" charset="0"/>
                <a:ea typeface="Cambria" panose="02040503050406030204" pitchFamily="18" charset="0"/>
              </a:rPr>
              <a:t>of the topics (note that two million query data contain more than 1000 queries that contain more than 5 terms). From all the collections we </a:t>
            </a:r>
            <a:r>
              <a:rPr lang="en-US" b="1" dirty="0">
                <a:latin typeface="Cambria" panose="02040503050406030204" pitchFamily="18" charset="0"/>
                <a:ea typeface="Cambria" panose="02040503050406030204" pitchFamily="18" charset="0"/>
              </a:rPr>
              <a:t>removed stop words </a:t>
            </a:r>
            <a:r>
              <a:rPr lang="en-US" dirty="0">
                <a:latin typeface="Cambria" panose="02040503050406030204" pitchFamily="18" charset="0"/>
                <a:ea typeface="Cambria" panose="02040503050406030204" pitchFamily="18" charset="0"/>
              </a:rPr>
              <a:t>during indexing. Documents and queries are </a:t>
            </a:r>
            <a:r>
              <a:rPr lang="en-US" b="1" dirty="0">
                <a:latin typeface="Cambria" panose="02040503050406030204" pitchFamily="18" charset="0"/>
                <a:ea typeface="Cambria" panose="02040503050406030204" pitchFamily="18" charset="0"/>
              </a:rPr>
              <a:t>stemmed using Porter stemmer</a:t>
            </a:r>
            <a:r>
              <a:rPr lang="en-US" dirty="0">
                <a:latin typeface="Cambria" panose="02040503050406030204" pitchFamily="18" charset="0"/>
                <a:ea typeface="Cambria" panose="02040503050406030204" pitchFamily="18" charset="0"/>
              </a:rPr>
              <a:t>. The following metrics are used to evaluate the systems.</a:t>
            </a:r>
          </a:p>
          <a:p>
            <a:pPr marL="0" indent="0">
              <a:buNone/>
            </a:pPr>
            <a:r>
              <a:rPr lang="en-US" b="1" dirty="0">
                <a:latin typeface="Cambria" panose="02040503050406030204" pitchFamily="18" charset="0"/>
                <a:ea typeface="Cambria" panose="02040503050406030204" pitchFamily="18" charset="0"/>
              </a:rPr>
              <a:t>Mean Average Precision (MAP): </a:t>
            </a:r>
            <a:r>
              <a:rPr lang="en-US" dirty="0">
                <a:latin typeface="Cambria" panose="02040503050406030204" pitchFamily="18" charset="0"/>
                <a:ea typeface="Cambria" panose="02040503050406030204" pitchFamily="18" charset="0"/>
              </a:rPr>
              <a:t>This is a standard metric for binary relevance assessment. MAP aggregates the Average Precision scores from multiple queries and calculates their mean.</a:t>
            </a:r>
          </a:p>
          <a:p>
            <a:pPr marL="0" indent="0">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125411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C8AE77C-052C-C767-84F8-1A6E346980FA}"/>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Evaluation Measures and IR System</a:t>
            </a:r>
          </a:p>
        </p:txBody>
      </p:sp>
      <p:sp>
        <p:nvSpPr>
          <p:cNvPr id="3" name="Content Placeholder 5">
            <a:extLst>
              <a:ext uri="{FF2B5EF4-FFF2-40B4-BE49-F238E27FC236}">
                <a16:creationId xmlns:a16="http://schemas.microsoft.com/office/drawing/2014/main" id="{5CD41C86-7827-C2D7-50E5-FCA474069815}"/>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ambria" panose="02040503050406030204" pitchFamily="18" charset="0"/>
                <a:ea typeface="Cambria" panose="02040503050406030204" pitchFamily="18" charset="0"/>
              </a:rPr>
              <a:t>Normalized DCG at k (</a:t>
            </a:r>
            <a:r>
              <a:rPr lang="en-US" b="1" dirty="0" err="1">
                <a:latin typeface="Cambria" panose="02040503050406030204" pitchFamily="18" charset="0"/>
                <a:ea typeface="Cambria" panose="02040503050406030204" pitchFamily="18" charset="0"/>
              </a:rPr>
              <a:t>NDCG@k</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Discounted cumulative gain (DCG) is an evaluation measure that can leverage the relevance judgment in terms of multiple grades, and has an explicit position-wise discount factor. NDCG is the normalized version of DCG.</a:t>
            </a:r>
          </a:p>
          <a:p>
            <a:pPr marL="0" indent="0">
              <a:buNone/>
            </a:pPr>
            <a:r>
              <a:rPr lang="en-US" b="1" dirty="0">
                <a:latin typeface="Cambria" panose="02040503050406030204" pitchFamily="18" charset="0"/>
                <a:ea typeface="Cambria" panose="02040503050406030204" pitchFamily="18" charset="0"/>
              </a:rPr>
              <a:t>Expected Reciprocal Rank at k (</a:t>
            </a:r>
            <a:r>
              <a:rPr lang="en-US" b="1" dirty="0" err="1">
                <a:latin typeface="Cambria" panose="02040503050406030204" pitchFamily="18" charset="0"/>
                <a:ea typeface="Cambria" panose="02040503050406030204" pitchFamily="18" charset="0"/>
              </a:rPr>
              <a:t>ERR@k</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To relax the additive nature and the underlying independent assumption in NDCG, another evaluation measure, namely, Expected Reciprocal Rank (ERR) is proposed. It discounts the documents which are shown below very relevant documents, and is defined as the expected reciprocal length of time that a user will take to find a relevant document. </a:t>
            </a:r>
            <a:r>
              <a:rPr lang="en-US" dirty="0" err="1">
                <a:latin typeface="Cambria" panose="02040503050406030204" pitchFamily="18" charset="0"/>
                <a:ea typeface="Cambria" panose="02040503050406030204" pitchFamily="18" charset="0"/>
              </a:rPr>
              <a:t>ERR@k</a:t>
            </a:r>
            <a:r>
              <a:rPr lang="en-US" dirty="0">
                <a:latin typeface="Cambria" panose="02040503050406030204" pitchFamily="18" charset="0"/>
                <a:ea typeface="Cambria" panose="02040503050406030204" pitchFamily="18" charset="0"/>
              </a:rPr>
              <a:t> is computed as follows:</a:t>
            </a:r>
          </a:p>
        </p:txBody>
      </p:sp>
      <p:pic>
        <p:nvPicPr>
          <p:cNvPr id="5" name="Picture 4">
            <a:extLst>
              <a:ext uri="{FF2B5EF4-FFF2-40B4-BE49-F238E27FC236}">
                <a16:creationId xmlns:a16="http://schemas.microsoft.com/office/drawing/2014/main" id="{1C0FB021-8C52-7A09-5188-8549F6545193}"/>
              </a:ext>
            </a:extLst>
          </p:cNvPr>
          <p:cNvPicPr>
            <a:picLocks noChangeAspect="1"/>
          </p:cNvPicPr>
          <p:nvPr/>
        </p:nvPicPr>
        <p:blipFill>
          <a:blip r:embed="rId3"/>
          <a:stretch>
            <a:fillRect/>
          </a:stretch>
        </p:blipFill>
        <p:spPr>
          <a:xfrm>
            <a:off x="3771575" y="5405373"/>
            <a:ext cx="4648849" cy="924054"/>
          </a:xfrm>
          <a:prstGeom prst="rect">
            <a:avLst/>
          </a:prstGeom>
        </p:spPr>
      </p:pic>
    </p:spTree>
    <p:extLst>
      <p:ext uri="{BB962C8B-B14F-4D97-AF65-F5344CB8AC3E}">
        <p14:creationId xmlns:p14="http://schemas.microsoft.com/office/powerpoint/2010/main" val="1796483482"/>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1ED1F179-79D3-4B05-2D37-2DBAD8C54E2F}"/>
              </a:ext>
            </a:extLst>
          </p:cNvPr>
          <p:cNvSpPr txBox="1">
            <a:spLocks/>
          </p:cNvSpPr>
          <p:nvPr/>
        </p:nvSpPr>
        <p:spPr>
          <a:xfrm>
            <a:off x="2785898" y="252286"/>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Evaluation Measures and IR System</a:t>
            </a:r>
          </a:p>
        </p:txBody>
      </p:sp>
      <p:sp>
        <p:nvSpPr>
          <p:cNvPr id="3" name="Content Placeholder 5">
            <a:extLst>
              <a:ext uri="{FF2B5EF4-FFF2-40B4-BE49-F238E27FC236}">
                <a16:creationId xmlns:a16="http://schemas.microsoft.com/office/drawing/2014/main" id="{FB5440EF-F7BB-0636-6F0A-EEE7829296F4}"/>
              </a:ext>
            </a:extLst>
          </p:cNvPr>
          <p:cNvSpPr txBox="1">
            <a:spLocks/>
          </p:cNvSpPr>
          <p:nvPr/>
        </p:nvSpPr>
        <p:spPr>
          <a:xfrm>
            <a:off x="1026159" y="900195"/>
            <a:ext cx="10324619"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where R(g)= (2^g − 1)/2^hg, hg is the highest grade and g1,g2 .. .</a:t>
            </a:r>
            <a:r>
              <a:rPr lang="en-US" dirty="0" err="1">
                <a:latin typeface="Cambria" panose="02040503050406030204" pitchFamily="18" charset="0"/>
                <a:ea typeface="Cambria" panose="02040503050406030204" pitchFamily="18" charset="0"/>
              </a:rPr>
              <a:t>gk</a:t>
            </a:r>
            <a:r>
              <a:rPr lang="en-US" dirty="0">
                <a:latin typeface="Cambria" panose="02040503050406030204" pitchFamily="18" charset="0"/>
                <a:ea typeface="Cambria" panose="02040503050406030204" pitchFamily="18" charset="0"/>
              </a:rPr>
              <a:t> are the relevance grades associated with the top k documents. The first two metrics are used to reflect </a:t>
            </a:r>
            <a:r>
              <a:rPr lang="en-US" b="1" dirty="0">
                <a:latin typeface="Cambria" panose="02040503050406030204" pitchFamily="18" charset="0"/>
                <a:ea typeface="Cambria" panose="02040503050406030204" pitchFamily="18" charset="0"/>
              </a:rPr>
              <a:t>the overall performance</a:t>
            </a:r>
            <a:r>
              <a:rPr lang="en-US" dirty="0">
                <a:latin typeface="Cambria" panose="02040503050406030204" pitchFamily="18" charset="0"/>
                <a:ea typeface="Cambria" panose="02040503050406030204" pitchFamily="18" charset="0"/>
              </a:rPr>
              <a:t> of the systems, while the last evaluation measure reflects better the </a:t>
            </a:r>
            <a:r>
              <a:rPr lang="en-US" b="1" dirty="0">
                <a:latin typeface="Cambria" panose="02040503050406030204" pitchFamily="18" charset="0"/>
                <a:ea typeface="Cambria" panose="02040503050406030204" pitchFamily="18" charset="0"/>
              </a:rPr>
              <a:t>precision</a:t>
            </a:r>
            <a:r>
              <a:rPr lang="en-US" dirty="0">
                <a:latin typeface="Cambria" panose="02040503050406030204" pitchFamily="18" charset="0"/>
                <a:ea typeface="Cambria" panose="02040503050406030204" pitchFamily="18" charset="0"/>
              </a:rPr>
              <a:t> of search results, thereby making more important for the precision oriented systems. ERR has been chosen as one of the official metrics for recent TREC web tracks. </a:t>
            </a:r>
          </a:p>
        </p:txBody>
      </p:sp>
    </p:spTree>
    <p:extLst>
      <p:ext uri="{BB962C8B-B14F-4D97-AF65-F5344CB8AC3E}">
        <p14:creationId xmlns:p14="http://schemas.microsoft.com/office/powerpoint/2010/main" val="29246340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860C5509-FC71-012B-5BBA-0195FB701C7F}"/>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Baselines</a:t>
            </a:r>
          </a:p>
        </p:txBody>
      </p:sp>
      <p:sp>
        <p:nvSpPr>
          <p:cNvPr id="5" name="Content Placeholder 5">
            <a:extLst>
              <a:ext uri="{FF2B5EF4-FFF2-40B4-BE49-F238E27FC236}">
                <a16:creationId xmlns:a16="http://schemas.microsoft.com/office/drawing/2014/main" id="{4F3A5DC5-3B1B-EF52-D75A-9212BCF7D411}"/>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The performance of the proposed weighting scheme was compared with </a:t>
            </a:r>
            <a:r>
              <a:rPr lang="en-US" b="1" dirty="0">
                <a:latin typeface="Cambria" panose="02040503050406030204" pitchFamily="18" charset="0"/>
                <a:ea typeface="Cambria" panose="02040503050406030204" pitchFamily="18" charset="0"/>
              </a:rPr>
              <a:t>five state of the art retrieval models</a:t>
            </a:r>
            <a:r>
              <a:rPr lang="en-US" dirty="0">
                <a:latin typeface="Cambria" panose="02040503050406030204" pitchFamily="18" charset="0"/>
                <a:ea typeface="Cambria" panose="02040503050406030204" pitchFamily="18" charset="0"/>
              </a:rPr>
              <a:t>. Since the proposed weighting function is a TF-IDF based formula, we have taken two well known state of the art TF-IDF models. We have also chosen BM25, language model with Dirichlet smoothing (LM), and relatively recent divergence from randomness based formula (PL2) as the other state of the art baselines.</a:t>
            </a:r>
          </a:p>
          <a:p>
            <a:pPr marL="0" indent="0">
              <a:buNone/>
            </a:pPr>
            <a:r>
              <a:rPr lang="en-US" b="1" dirty="0">
                <a:latin typeface="Cambria" panose="02040503050406030204" pitchFamily="18" charset="0"/>
                <a:ea typeface="Cambria" panose="02040503050406030204" pitchFamily="18" charset="0"/>
              </a:rPr>
              <a:t>1. Pivoted length normalized TF-IDF model:</a:t>
            </a:r>
            <a:r>
              <a:rPr lang="en-US" dirty="0">
                <a:latin typeface="Cambria" panose="02040503050406030204" pitchFamily="18" charset="0"/>
                <a:ea typeface="Cambria" panose="02040503050406030204" pitchFamily="18" charset="0"/>
              </a:rPr>
              <a:t> This model is one of the best performing TF-IDF formula in the vector space model framework. The value of the parameter s is set to 0.05.</a:t>
            </a:r>
          </a:p>
          <a:p>
            <a:pPr marL="0" indent="0">
              <a:buNone/>
            </a:pPr>
            <a:r>
              <a:rPr lang="en-US" b="1" dirty="0">
                <a:latin typeface="Cambria" panose="02040503050406030204" pitchFamily="18" charset="0"/>
                <a:ea typeface="Cambria" panose="02040503050406030204" pitchFamily="18" charset="0"/>
              </a:rPr>
              <a:t>2. Lemur TF-IDF model:</a:t>
            </a:r>
            <a:r>
              <a:rPr lang="en-US" dirty="0">
                <a:latin typeface="Cambria" panose="02040503050406030204" pitchFamily="18" charset="0"/>
                <a:ea typeface="Cambria" panose="02040503050406030204" pitchFamily="18" charset="0"/>
              </a:rPr>
              <a:t> This model is another TF-IDF model that uses Robertson’s </a:t>
            </a:r>
            <a:r>
              <a:rPr lang="en-US" dirty="0" err="1">
                <a:latin typeface="Cambria" panose="02040503050406030204" pitchFamily="18" charset="0"/>
                <a:ea typeface="Cambria" panose="02040503050406030204" pitchFamily="18" charset="0"/>
              </a:rPr>
              <a:t>tf</a:t>
            </a:r>
            <a:r>
              <a:rPr lang="en-US" dirty="0">
                <a:latin typeface="Cambria" panose="02040503050406030204" pitchFamily="18" charset="0"/>
                <a:ea typeface="Cambria" panose="02040503050406030204" pitchFamily="18" charset="0"/>
              </a:rPr>
              <a:t> and the standard </a:t>
            </a:r>
            <a:r>
              <a:rPr lang="en-US" dirty="0" err="1">
                <a:latin typeface="Cambria" panose="02040503050406030204" pitchFamily="18" charset="0"/>
                <a:ea typeface="Cambria" panose="02040503050406030204" pitchFamily="18" charset="0"/>
              </a:rPr>
              <a:t>idf</a:t>
            </a:r>
            <a:r>
              <a:rPr lang="en-US" dirty="0">
                <a:latin typeface="Cambria" panose="02040503050406030204" pitchFamily="18" charset="0"/>
                <a:ea typeface="Cambria" panose="02040503050406030204" pitchFamily="18" charset="0"/>
              </a:rPr>
              <a:t>. The parameter of this model is set to its default value, 0.75. </a:t>
            </a:r>
          </a:p>
        </p:txBody>
      </p:sp>
    </p:spTree>
    <p:extLst>
      <p:ext uri="{BB962C8B-B14F-4D97-AF65-F5344CB8AC3E}">
        <p14:creationId xmlns:p14="http://schemas.microsoft.com/office/powerpoint/2010/main" val="3740232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EEDF3BC9-E6C7-3676-596F-EC648CFDECFF}"/>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Baselines</a:t>
            </a:r>
          </a:p>
        </p:txBody>
      </p:sp>
      <p:sp>
        <p:nvSpPr>
          <p:cNvPr id="3" name="Content Placeholder 5">
            <a:extLst>
              <a:ext uri="{FF2B5EF4-FFF2-40B4-BE49-F238E27FC236}">
                <a16:creationId xmlns:a16="http://schemas.microsoft.com/office/drawing/2014/main" id="{405A6F5F-B2D4-7216-6369-937499384E18}"/>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Cambria" panose="02040503050406030204" pitchFamily="18" charset="0"/>
                <a:ea typeface="Cambria" panose="02040503050406030204" pitchFamily="18" charset="0"/>
              </a:rPr>
              <a:t>3. Classical Probabilistic model (BM25):</a:t>
            </a:r>
            <a:r>
              <a:rPr lang="en-US" dirty="0">
                <a:latin typeface="Cambria" panose="02040503050406030204" pitchFamily="18" charset="0"/>
                <a:ea typeface="Cambria" panose="02040503050406030204" pitchFamily="18" charset="0"/>
              </a:rPr>
              <a:t> The parameters of this model is set to k1 =1.2, b =0.6 and k3 = 1000. Note that we found (on training data) slightly better results for b =0.6 than the default 0.75.</a:t>
            </a:r>
          </a:p>
          <a:p>
            <a:pPr marL="0" indent="0">
              <a:buNone/>
            </a:pPr>
            <a:r>
              <a:rPr lang="en-US" b="1" dirty="0">
                <a:latin typeface="Cambria" panose="02040503050406030204" pitchFamily="18" charset="0"/>
                <a:ea typeface="Cambria" panose="02040503050406030204" pitchFamily="18" charset="0"/>
              </a:rPr>
              <a:t>4. Dirichlet smooth language model (LM):</a:t>
            </a:r>
            <a:r>
              <a:rPr lang="en-US" dirty="0">
                <a:latin typeface="Cambria" panose="02040503050406030204" pitchFamily="18" charset="0"/>
                <a:ea typeface="Cambria" panose="02040503050406030204" pitchFamily="18" charset="0"/>
              </a:rPr>
              <a:t> Language model is another probabilistic model that performs very effectively. For this model we set the value of Dirichlet smoothing (µ) to 1700.</a:t>
            </a:r>
          </a:p>
          <a:p>
            <a:pPr marL="0" indent="0">
              <a:buNone/>
            </a:pPr>
            <a:r>
              <a:rPr lang="en-US" b="1" dirty="0">
                <a:latin typeface="Cambria" panose="02040503050406030204" pitchFamily="18" charset="0"/>
                <a:ea typeface="Cambria" panose="02040503050406030204" pitchFamily="18" charset="0"/>
              </a:rPr>
              <a:t>5. Divergence from Randomness model (PL2):</a:t>
            </a:r>
            <a:r>
              <a:rPr lang="en-US" dirty="0">
                <a:latin typeface="Cambria" panose="02040503050406030204" pitchFamily="18" charset="0"/>
                <a:ea typeface="Cambria" panose="02040503050406030204" pitchFamily="18" charset="0"/>
              </a:rPr>
              <a:t> Similar to the previous models, its performance also depends on a parameter value (c in the formula). We conduct experiments for this model by setting c = 13.</a:t>
            </a:r>
          </a:p>
        </p:txBody>
      </p:sp>
    </p:spTree>
    <p:extLst>
      <p:ext uri="{BB962C8B-B14F-4D97-AF65-F5344CB8AC3E}">
        <p14:creationId xmlns:p14="http://schemas.microsoft.com/office/powerpoint/2010/main" val="405684720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9C78C7-8BC0-9D32-74E7-A93EC290BC08}"/>
              </a:ext>
            </a:extLst>
          </p:cNvPr>
          <p:cNvPicPr>
            <a:picLocks noChangeAspect="1"/>
          </p:cNvPicPr>
          <p:nvPr/>
        </p:nvPicPr>
        <p:blipFill>
          <a:blip r:embed="rId3"/>
          <a:stretch>
            <a:fillRect/>
          </a:stretch>
        </p:blipFill>
        <p:spPr>
          <a:xfrm>
            <a:off x="993621" y="654388"/>
            <a:ext cx="9694607" cy="2900435"/>
          </a:xfrm>
          <a:prstGeom prst="rect">
            <a:avLst/>
          </a:prstGeom>
        </p:spPr>
      </p:pic>
      <p:sp>
        <p:nvSpPr>
          <p:cNvPr id="4" name="Title 4">
            <a:extLst>
              <a:ext uri="{FF2B5EF4-FFF2-40B4-BE49-F238E27FC236}">
                <a16:creationId xmlns:a16="http://schemas.microsoft.com/office/drawing/2014/main" id="{BF2FB7CE-6D60-7494-AF4E-53B736413027}"/>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RESULTS</a:t>
            </a:r>
          </a:p>
        </p:txBody>
      </p:sp>
      <p:sp>
        <p:nvSpPr>
          <p:cNvPr id="5" name="Content Placeholder 5">
            <a:extLst>
              <a:ext uri="{FF2B5EF4-FFF2-40B4-BE49-F238E27FC236}">
                <a16:creationId xmlns:a16="http://schemas.microsoft.com/office/drawing/2014/main" id="{1069265D-6345-7E7D-FE03-CE973006FBB4}"/>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p:txBody>
      </p:sp>
      <p:sp>
        <p:nvSpPr>
          <p:cNvPr id="6" name="Content Placeholder 5">
            <a:extLst>
              <a:ext uri="{FF2B5EF4-FFF2-40B4-BE49-F238E27FC236}">
                <a16:creationId xmlns:a16="http://schemas.microsoft.com/office/drawing/2014/main" id="{9C122D60-AD38-5709-EC2E-76AA292AD271}"/>
              </a:ext>
            </a:extLst>
          </p:cNvPr>
          <p:cNvSpPr txBox="1">
            <a:spLocks/>
          </p:cNvSpPr>
          <p:nvPr/>
        </p:nvSpPr>
        <p:spPr>
          <a:xfrm>
            <a:off x="993621" y="10525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The performances of MATF and the two TF-IDF models on two million query data, measured by </a:t>
            </a:r>
            <a:r>
              <a:rPr lang="en-US" b="1" dirty="0">
                <a:latin typeface="Cambria" panose="02040503050406030204" pitchFamily="18" charset="0"/>
                <a:ea typeface="Cambria" panose="02040503050406030204" pitchFamily="18" charset="0"/>
              </a:rPr>
              <a:t>statistical average precision</a:t>
            </a:r>
            <a:r>
              <a:rPr lang="en-US" dirty="0">
                <a:latin typeface="Cambria" panose="02040503050406030204" pitchFamily="18" charset="0"/>
                <a:ea typeface="Cambria" panose="02040503050406030204" pitchFamily="18" charset="0"/>
              </a:rPr>
              <a:t>, are shown in Table 3. In summary, based on the results shown in Table 2 and Table 3 we can infer that MATF outperforms two state of the art TF-IDF models with remarkable significance and consistency, and the performance differences are often noticeably large. Moreover, the results also show that MATF is more effective for larger web collections.</a:t>
            </a:r>
          </a:p>
        </p:txBody>
      </p:sp>
    </p:spTree>
    <p:extLst>
      <p:ext uri="{BB962C8B-B14F-4D97-AF65-F5344CB8AC3E}">
        <p14:creationId xmlns:p14="http://schemas.microsoft.com/office/powerpoint/2010/main" val="409857636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27AE613A-DACA-89C9-7CE3-6EC7FC58C774}"/>
              </a:ext>
            </a:extLst>
          </p:cNvPr>
          <p:cNvSpPr txBox="1">
            <a:spLocks/>
          </p:cNvSpPr>
          <p:nvPr/>
        </p:nvSpPr>
        <p:spPr>
          <a:xfrm>
            <a:off x="8952834" y="228436"/>
            <a:ext cx="2885205"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RESULTS</a:t>
            </a:r>
          </a:p>
        </p:txBody>
      </p:sp>
      <p:pic>
        <p:nvPicPr>
          <p:cNvPr id="4" name="Picture 3">
            <a:extLst>
              <a:ext uri="{FF2B5EF4-FFF2-40B4-BE49-F238E27FC236}">
                <a16:creationId xmlns:a16="http://schemas.microsoft.com/office/drawing/2014/main" id="{7C14984D-27D4-F9F2-018E-C113DA2DBB70}"/>
              </a:ext>
            </a:extLst>
          </p:cNvPr>
          <p:cNvPicPr>
            <a:picLocks noChangeAspect="1"/>
          </p:cNvPicPr>
          <p:nvPr/>
        </p:nvPicPr>
        <p:blipFill>
          <a:blip r:embed="rId3"/>
          <a:stretch>
            <a:fillRect/>
          </a:stretch>
        </p:blipFill>
        <p:spPr>
          <a:xfrm>
            <a:off x="0" y="824083"/>
            <a:ext cx="12192000" cy="5209834"/>
          </a:xfrm>
          <a:prstGeom prst="rect">
            <a:avLst/>
          </a:prstGeom>
        </p:spPr>
      </p:pic>
    </p:spTree>
    <p:extLst>
      <p:ext uri="{BB962C8B-B14F-4D97-AF65-F5344CB8AC3E}">
        <p14:creationId xmlns:p14="http://schemas.microsoft.com/office/powerpoint/2010/main" val="336142093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6781A1C7-F781-6778-9597-48B2955F37FD}"/>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RESULTS</a:t>
            </a:r>
          </a:p>
        </p:txBody>
      </p:sp>
      <p:sp>
        <p:nvSpPr>
          <p:cNvPr id="5" name="Content Placeholder 5">
            <a:extLst>
              <a:ext uri="{FF2B5EF4-FFF2-40B4-BE49-F238E27FC236}">
                <a16:creationId xmlns:a16="http://schemas.microsoft.com/office/drawing/2014/main" id="{F0162B19-3102-8A50-F50E-35BC8CDEA14B}"/>
              </a:ext>
            </a:extLst>
          </p:cNvPr>
          <p:cNvSpPr txBox="1">
            <a:spLocks/>
          </p:cNvSpPr>
          <p:nvPr/>
        </p:nvSpPr>
        <p:spPr>
          <a:xfrm>
            <a:off x="841221" y="9001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p:txBody>
      </p:sp>
      <p:sp>
        <p:nvSpPr>
          <p:cNvPr id="6" name="Content Placeholder 5">
            <a:extLst>
              <a:ext uri="{FF2B5EF4-FFF2-40B4-BE49-F238E27FC236}">
                <a16:creationId xmlns:a16="http://schemas.microsoft.com/office/drawing/2014/main" id="{F8E9729E-9222-F073-327F-36AF29759762}"/>
              </a:ext>
            </a:extLst>
          </p:cNvPr>
          <p:cNvSpPr txBox="1">
            <a:spLocks/>
          </p:cNvSpPr>
          <p:nvPr/>
        </p:nvSpPr>
        <p:spPr>
          <a:xfrm>
            <a:off x="993621" y="105259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Table 5 compares the performance of four models for million query collections measured in terms of </a:t>
            </a:r>
            <a:r>
              <a:rPr lang="en-US" b="1" dirty="0">
                <a:latin typeface="Cambria" panose="02040503050406030204" pitchFamily="18" charset="0"/>
                <a:ea typeface="Cambria" panose="02040503050406030204" pitchFamily="18" charset="0"/>
              </a:rPr>
              <a:t>statistical average precision</a:t>
            </a:r>
            <a:r>
              <a:rPr lang="en-US" dirty="0">
                <a:latin typeface="Cambria" panose="02040503050406030204" pitchFamily="18" charset="0"/>
                <a:ea typeface="Cambria" panose="02040503050406030204" pitchFamily="18" charset="0"/>
              </a:rPr>
              <a:t>. It is once again clearly evident that MATF is consistently better than all three models and all the differences are very large and it is very consistent with the performance measured in terms other metrics presented in Table 4.</a:t>
            </a:r>
          </a:p>
        </p:txBody>
      </p:sp>
      <p:pic>
        <p:nvPicPr>
          <p:cNvPr id="8" name="Picture 7">
            <a:extLst>
              <a:ext uri="{FF2B5EF4-FFF2-40B4-BE49-F238E27FC236}">
                <a16:creationId xmlns:a16="http://schemas.microsoft.com/office/drawing/2014/main" id="{59B641C5-BE4B-DD53-F050-BC7AB2E36928}"/>
              </a:ext>
            </a:extLst>
          </p:cNvPr>
          <p:cNvPicPr>
            <a:picLocks noChangeAspect="1"/>
          </p:cNvPicPr>
          <p:nvPr/>
        </p:nvPicPr>
        <p:blipFill>
          <a:blip r:embed="rId3"/>
          <a:stretch>
            <a:fillRect/>
          </a:stretch>
        </p:blipFill>
        <p:spPr>
          <a:xfrm>
            <a:off x="2296128" y="741681"/>
            <a:ext cx="7109973" cy="1995606"/>
          </a:xfrm>
          <a:prstGeom prst="rect">
            <a:avLst/>
          </a:prstGeom>
        </p:spPr>
      </p:pic>
    </p:spTree>
    <p:extLst>
      <p:ext uri="{BB962C8B-B14F-4D97-AF65-F5344CB8AC3E}">
        <p14:creationId xmlns:p14="http://schemas.microsoft.com/office/powerpoint/2010/main" val="322583518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481B4B-14EC-6BD9-459B-C125285D4A79}"/>
              </a:ext>
            </a:extLst>
          </p:cNvPr>
          <p:cNvPicPr>
            <a:picLocks noChangeAspect="1"/>
          </p:cNvPicPr>
          <p:nvPr/>
        </p:nvPicPr>
        <p:blipFill>
          <a:blip r:embed="rId3"/>
          <a:stretch>
            <a:fillRect/>
          </a:stretch>
        </p:blipFill>
        <p:spPr>
          <a:xfrm>
            <a:off x="0" y="741681"/>
            <a:ext cx="12192000" cy="6254940"/>
          </a:xfrm>
          <a:prstGeom prst="rect">
            <a:avLst/>
          </a:prstGeom>
        </p:spPr>
      </p:pic>
      <p:sp>
        <p:nvSpPr>
          <p:cNvPr id="4" name="Title 4">
            <a:extLst>
              <a:ext uri="{FF2B5EF4-FFF2-40B4-BE49-F238E27FC236}">
                <a16:creationId xmlns:a16="http://schemas.microsoft.com/office/drawing/2014/main" id="{95B3918D-9F62-BBA3-86A6-1932C2F84FD6}"/>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RESULTS</a:t>
            </a:r>
          </a:p>
        </p:txBody>
      </p:sp>
    </p:spTree>
    <p:extLst>
      <p:ext uri="{BB962C8B-B14F-4D97-AF65-F5344CB8AC3E}">
        <p14:creationId xmlns:p14="http://schemas.microsoft.com/office/powerpoint/2010/main" val="34601522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4440D0-EECD-67B1-266A-C836F4FFC664}"/>
              </a:ext>
            </a:extLst>
          </p:cNvPr>
          <p:cNvPicPr>
            <a:picLocks noChangeAspect="1"/>
          </p:cNvPicPr>
          <p:nvPr/>
        </p:nvPicPr>
        <p:blipFill>
          <a:blip r:embed="rId3"/>
          <a:stretch>
            <a:fillRect/>
          </a:stretch>
        </p:blipFill>
        <p:spPr>
          <a:xfrm>
            <a:off x="2486787" y="741681"/>
            <a:ext cx="6687483" cy="1914792"/>
          </a:xfrm>
          <a:prstGeom prst="rect">
            <a:avLst/>
          </a:prstGeom>
        </p:spPr>
      </p:pic>
      <p:sp>
        <p:nvSpPr>
          <p:cNvPr id="4" name="Title 4">
            <a:extLst>
              <a:ext uri="{FF2B5EF4-FFF2-40B4-BE49-F238E27FC236}">
                <a16:creationId xmlns:a16="http://schemas.microsoft.com/office/drawing/2014/main" id="{1421BCC9-9086-A3DD-D707-DF4F765DB4DE}"/>
              </a:ext>
            </a:extLst>
          </p:cNvPr>
          <p:cNvSpPr txBox="1">
            <a:spLocks/>
          </p:cNvSpPr>
          <p:nvPr/>
        </p:nvSpPr>
        <p:spPr>
          <a:xfrm>
            <a:off x="841221" y="189107"/>
            <a:ext cx="856488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Analysis</a:t>
            </a:r>
          </a:p>
        </p:txBody>
      </p:sp>
      <p:sp>
        <p:nvSpPr>
          <p:cNvPr id="6" name="Content Placeholder 5">
            <a:extLst>
              <a:ext uri="{FF2B5EF4-FFF2-40B4-BE49-F238E27FC236}">
                <a16:creationId xmlns:a16="http://schemas.microsoft.com/office/drawing/2014/main" id="{D4CE88A6-2878-4D20-1C93-0C88473AB722}"/>
              </a:ext>
            </a:extLst>
          </p:cNvPr>
          <p:cNvSpPr txBox="1">
            <a:spLocks/>
          </p:cNvSpPr>
          <p:nvPr/>
        </p:nvSpPr>
        <p:spPr>
          <a:xfrm>
            <a:off x="841221" y="596705"/>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In this section we analyze the effect of the two TF factors on </a:t>
            </a:r>
            <a:r>
              <a:rPr lang="en-US" b="1" dirty="0">
                <a:latin typeface="Cambria" panose="02040503050406030204" pitchFamily="18" charset="0"/>
                <a:ea typeface="Cambria" panose="02040503050406030204" pitchFamily="18" charset="0"/>
              </a:rPr>
              <a:t>short and long queries</a:t>
            </a:r>
            <a:r>
              <a:rPr lang="en-US" dirty="0">
                <a:latin typeface="Cambria" panose="02040503050406030204" pitchFamily="18" charset="0"/>
                <a:ea typeface="Cambria" panose="02040503050406030204" pitchFamily="18" charset="0"/>
              </a:rPr>
              <a:t>. For this analysis we choose the two million query collections, primarily because the collections have large number of queries. We divide the queries in two sets. The queries having </a:t>
            </a:r>
            <a:r>
              <a:rPr lang="en-US" b="1">
                <a:latin typeface="Cambria" panose="02040503050406030204" pitchFamily="18" charset="0"/>
                <a:ea typeface="Cambria" panose="02040503050406030204" pitchFamily="18" charset="0"/>
              </a:rPr>
              <a:t>at most </a:t>
            </a:r>
            <a:r>
              <a:rPr lang="en-US" b="1" dirty="0">
                <a:latin typeface="Cambria" panose="02040503050406030204" pitchFamily="18" charset="0"/>
                <a:ea typeface="Cambria" panose="02040503050406030204" pitchFamily="18" charset="0"/>
              </a:rPr>
              <a:t>5 terms are denoted as short</a:t>
            </a:r>
            <a:r>
              <a:rPr lang="en-US" dirty="0">
                <a:latin typeface="Cambria" panose="02040503050406030204" pitchFamily="18" charset="0"/>
                <a:ea typeface="Cambria" panose="02040503050406030204" pitchFamily="18" charset="0"/>
              </a:rPr>
              <a:t>, while the rest of the queries (</a:t>
            </a:r>
            <a:r>
              <a:rPr lang="en-US" b="1" dirty="0">
                <a:latin typeface="Cambria" panose="02040503050406030204" pitchFamily="18" charset="0"/>
                <a:ea typeface="Cambria" panose="02040503050406030204" pitchFamily="18" charset="0"/>
              </a:rPr>
              <a:t>longer than 5 words</a:t>
            </a:r>
            <a:r>
              <a:rPr lang="en-US" dirty="0">
                <a:latin typeface="Cambria" panose="02040503050406030204" pitchFamily="18" charset="0"/>
                <a:ea typeface="Cambria" panose="02040503050406030204" pitchFamily="18" charset="0"/>
              </a:rPr>
              <a:t>) are </a:t>
            </a:r>
            <a:r>
              <a:rPr lang="en-US" b="1" dirty="0">
                <a:latin typeface="Cambria" panose="02040503050406030204" pitchFamily="18" charset="0"/>
                <a:ea typeface="Cambria" panose="02040503050406030204" pitchFamily="18" charset="0"/>
              </a:rPr>
              <a:t>treated as long</a:t>
            </a:r>
            <a:r>
              <a:rPr lang="en-US" dirty="0">
                <a:latin typeface="Cambria" panose="02040503050406030204" pitchFamily="18" charset="0"/>
                <a:ea typeface="Cambria" panose="02040503050406030204" pitchFamily="18" charset="0"/>
              </a:rPr>
              <a:t>. The results seem to confirm our aforesaid assumption. LRTF always performs better than RITF on both of the collections for long queries, while </a:t>
            </a:r>
            <a:r>
              <a:rPr lang="en-US" b="1" dirty="0">
                <a:latin typeface="Cambria" panose="02040503050406030204" pitchFamily="18" charset="0"/>
                <a:ea typeface="Cambria" panose="02040503050406030204" pitchFamily="18" charset="0"/>
              </a:rPr>
              <a:t>RITF does better for short queries</a:t>
            </a:r>
            <a:r>
              <a:rPr lang="en-US" dirty="0">
                <a:latin typeface="Cambria" panose="02040503050406030204" pitchFamily="18" charset="0"/>
                <a:ea typeface="Cambria" panose="02040503050406030204" pitchFamily="18" charset="0"/>
              </a:rPr>
              <a:t>. However, the performance differences between the methods on longer queries are noticeably better than that for shorter queries.</a:t>
            </a:r>
          </a:p>
        </p:txBody>
      </p:sp>
    </p:spTree>
    <p:extLst>
      <p:ext uri="{BB962C8B-B14F-4D97-AF65-F5344CB8AC3E}">
        <p14:creationId xmlns:p14="http://schemas.microsoft.com/office/powerpoint/2010/main" val="147690618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8E583155-67C3-2277-517D-001C8FA98FE2}"/>
              </a:ext>
            </a:extLst>
          </p:cNvPr>
          <p:cNvSpPr txBox="1">
            <a:spLocks/>
          </p:cNvSpPr>
          <p:nvPr/>
        </p:nvSpPr>
        <p:spPr>
          <a:xfrm>
            <a:off x="7698658" y="189107"/>
            <a:ext cx="3652121" cy="552574"/>
          </a:xfrm>
          <a:prstGeom prst="rect">
            <a:avLst/>
          </a:prstGeom>
        </p:spPr>
        <p:txBody>
          <a:bodyPr vert="horz" lIns="91440" tIns="45720" rIns="91440" bIns="45720" rtlCol="0" anchor="b">
            <a:noAutofit/>
          </a:bodyPr>
          <a:lstStyle>
            <a:lvl1pPr algn="l" defTabSz="914400" rtl="0" eaLnBrk="1" latinLnBrk="0" hangingPunct="1">
              <a:lnSpc>
                <a:spcPct val="80000"/>
              </a:lnSpc>
              <a:spcBef>
                <a:spcPct val="0"/>
              </a:spcBef>
              <a:buNone/>
              <a:defRPr sz="4200" b="1" kern="1200">
                <a:solidFill>
                  <a:schemeClr val="tx1"/>
                </a:solidFill>
                <a:latin typeface="+mj-lt"/>
                <a:ea typeface="+mj-ea"/>
                <a:cs typeface="+mj-cs"/>
              </a:defRPr>
            </a:lvl1pPr>
          </a:lstStyle>
          <a:p>
            <a:r>
              <a:rPr lang="en-US" dirty="0"/>
              <a:t>CONCLUSION</a:t>
            </a:r>
          </a:p>
        </p:txBody>
      </p:sp>
      <p:sp>
        <p:nvSpPr>
          <p:cNvPr id="4" name="Content Placeholder 5">
            <a:extLst>
              <a:ext uri="{FF2B5EF4-FFF2-40B4-BE49-F238E27FC236}">
                <a16:creationId xmlns:a16="http://schemas.microsoft.com/office/drawing/2014/main" id="{B88A007A-AA51-CA16-5D8B-20060135F0F9}"/>
              </a:ext>
            </a:extLst>
          </p:cNvPr>
          <p:cNvSpPr txBox="1">
            <a:spLocks/>
          </p:cNvSpPr>
          <p:nvPr/>
        </p:nvSpPr>
        <p:spPr>
          <a:xfrm>
            <a:off x="841221" y="741681"/>
            <a:ext cx="10509558" cy="626129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Cambria" panose="02040503050406030204" pitchFamily="18" charset="0"/>
                <a:ea typeface="Cambria" panose="02040503050406030204" pitchFamily="18" charset="0"/>
              </a:rPr>
              <a:t>In this paper, we present a novel TF-IDF term weighting scheme. The proposed term weighting scheme employs </a:t>
            </a:r>
            <a:r>
              <a:rPr lang="en-US" b="1" dirty="0">
                <a:latin typeface="Cambria" panose="02040503050406030204" pitchFamily="18" charset="0"/>
                <a:ea typeface="Cambria" panose="02040503050406030204" pitchFamily="18" charset="0"/>
              </a:rPr>
              <a:t>two aspects of within document term frequency normalization </a:t>
            </a:r>
            <a:r>
              <a:rPr lang="en-US" dirty="0">
                <a:latin typeface="Cambria" panose="02040503050406030204" pitchFamily="18" charset="0"/>
                <a:ea typeface="Cambria" panose="02040503050406030204" pitchFamily="18" charset="0"/>
              </a:rPr>
              <a:t>to determine the importance of a term. One component of the term frequency tends to </a:t>
            </a:r>
            <a:r>
              <a:rPr lang="en-US" b="1" dirty="0">
                <a:latin typeface="Cambria" panose="02040503050406030204" pitchFamily="18" charset="0"/>
                <a:ea typeface="Cambria" panose="02040503050406030204" pitchFamily="18" charset="0"/>
              </a:rPr>
              <a:t>prefer short documents</a:t>
            </a:r>
            <a:r>
              <a:rPr lang="en-US" dirty="0">
                <a:latin typeface="Cambria" panose="02040503050406030204" pitchFamily="18" charset="0"/>
                <a:ea typeface="Cambria" panose="02040503050406030204" pitchFamily="18" charset="0"/>
              </a:rPr>
              <a:t>, while the other tends to </a:t>
            </a:r>
            <a:r>
              <a:rPr lang="en-US" b="1" dirty="0">
                <a:latin typeface="Cambria" panose="02040503050406030204" pitchFamily="18" charset="0"/>
                <a:ea typeface="Cambria" panose="02040503050406030204" pitchFamily="18" charset="0"/>
              </a:rPr>
              <a:t>prefer long documents</a:t>
            </a:r>
            <a:r>
              <a:rPr lang="en-US" dirty="0">
                <a:latin typeface="Cambria" panose="02040503050406030204" pitchFamily="18" charset="0"/>
                <a:ea typeface="Cambria" panose="02040503050406030204" pitchFamily="18" charset="0"/>
              </a:rPr>
              <a:t>. Experiments carried out on a set of news and web collections show that the </a:t>
            </a:r>
            <a:r>
              <a:rPr lang="en-US" b="1" dirty="0">
                <a:latin typeface="Cambria" panose="02040503050406030204" pitchFamily="18" charset="0"/>
                <a:ea typeface="Cambria" panose="02040503050406030204" pitchFamily="18" charset="0"/>
              </a:rPr>
              <a:t>proposed model outperforms two well known state of the art TF-IDF baselines </a:t>
            </a:r>
            <a:r>
              <a:rPr lang="en-US" dirty="0">
                <a:latin typeface="Cambria" panose="02040503050406030204" pitchFamily="18" charset="0"/>
                <a:ea typeface="Cambria" panose="02040503050406030204" pitchFamily="18" charset="0"/>
              </a:rPr>
              <a:t>with significantly large margin, when measured in terms of </a:t>
            </a:r>
            <a:r>
              <a:rPr lang="en-US" b="1" dirty="0">
                <a:latin typeface="Cambria" panose="02040503050406030204" pitchFamily="18" charset="0"/>
                <a:ea typeface="Cambria" panose="02040503050406030204" pitchFamily="18" charset="0"/>
              </a:rPr>
              <a:t>MAP and NDCG</a:t>
            </a:r>
            <a:r>
              <a:rPr lang="en-US" dirty="0">
                <a:latin typeface="Cambria" panose="02040503050406030204" pitchFamily="18" charset="0"/>
                <a:ea typeface="Cambria" panose="02040503050406030204" pitchFamily="18" charset="0"/>
              </a:rPr>
              <a:t>. The model also </a:t>
            </a:r>
            <a:r>
              <a:rPr lang="en-US" b="1" dirty="0">
                <a:latin typeface="Cambria" panose="02040503050406030204" pitchFamily="18" charset="0"/>
                <a:ea typeface="Cambria" panose="02040503050406030204" pitchFamily="18" charset="0"/>
              </a:rPr>
              <a:t>surpasses three state of the art probabilistic models </a:t>
            </a:r>
            <a:r>
              <a:rPr lang="en-US" dirty="0">
                <a:latin typeface="Cambria" panose="02040503050406030204" pitchFamily="18" charset="0"/>
                <a:ea typeface="Cambria" panose="02040503050406030204" pitchFamily="18" charset="0"/>
              </a:rPr>
              <a:t>with remarkable significance almost always. Moreover, the proposed model is also significantly better than all of the five baselines in improving precision.</a:t>
            </a:r>
          </a:p>
        </p:txBody>
      </p:sp>
    </p:spTree>
    <p:extLst>
      <p:ext uri="{BB962C8B-B14F-4D97-AF65-F5344CB8AC3E}">
        <p14:creationId xmlns:p14="http://schemas.microsoft.com/office/powerpoint/2010/main" val="163088485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1167494" y="252549"/>
            <a:ext cx="6220278" cy="3262811"/>
          </a:xfrm>
        </p:spPr>
        <p:txBody>
          <a:bodyPr/>
          <a:lstStyle/>
          <a:p>
            <a:r>
              <a:rPr lang="en-US" dirty="0"/>
              <a:t>Thank you</a:t>
            </a:r>
          </a:p>
        </p:txBody>
      </p:sp>
    </p:spTree>
    <p:extLst>
      <p:ext uri="{BB962C8B-B14F-4D97-AF65-F5344CB8AC3E}">
        <p14:creationId xmlns:p14="http://schemas.microsoft.com/office/powerpoint/2010/main" val="160967352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488</TotalTime>
  <Words>3329</Words>
  <Application>Microsoft Office PowerPoint</Application>
  <PresentationFormat>Widescreen</PresentationFormat>
  <Paragraphs>172</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Cambria</vt:lpstr>
      <vt:lpstr>Tenorite</vt:lpstr>
      <vt:lpstr>Custom</vt:lpstr>
      <vt:lpstr>A Novel TF-IDF Weighting Scheme for Effective Ranking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Novel TF-IDF Weighting Scheme for Effective Ranking</dc:title>
  <dc:creator>Sharanya Dasgupta</dc:creator>
  <cp:lastModifiedBy>Sharanya Dasgupta</cp:lastModifiedBy>
  <cp:revision>15</cp:revision>
  <dcterms:created xsi:type="dcterms:W3CDTF">2024-05-14T14:50:22Z</dcterms:created>
  <dcterms:modified xsi:type="dcterms:W3CDTF">2024-05-15T09:31:29Z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